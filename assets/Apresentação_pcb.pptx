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8"/>
  </p:notesMasterIdLst>
  <p:sldIdLst>
    <p:sldId id="256" r:id="rId2"/>
    <p:sldId id="267" r:id="rId3"/>
    <p:sldId id="268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2ABF1-1C78-BD41-8C3F-6D54E36EB756}" type="datetimeFigureOut">
              <a:rPr lang="pt-PT" smtClean="0"/>
              <a:t>05/06/2022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EF3F5-E398-7549-A274-784892FDC60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243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AC92-5F8A-A411-1656-DEFE446CA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8298F-3695-6C05-8B97-C3443F771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362B-E4A7-8801-A9BE-B105F03B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394A-0B5B-CB46-B20D-7095C3DFC979}" type="datetime1">
              <a:rPr lang="pt-PT" smtClean="0"/>
              <a:t>05/06/2022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4985A-EEA6-1FC6-EE88-3C86C949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8A793-B61E-98F8-BA43-7B9D7427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985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A779-EA42-BDA8-F538-C1E9379F1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1BD10-42F4-A08C-ED0C-DB5EE70AB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05A4B-97FF-DD37-ED86-1054DF4C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CA8E-6361-4C45-A953-9389826A1909}" type="datetime1">
              <a:rPr lang="pt-PT" smtClean="0"/>
              <a:t>05/06/2022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8CD23-E7F9-E999-86E7-33B3D330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57EC1-5B63-4B15-5872-390F87FB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6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5734-BE7D-F9D6-29E9-327115A8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F193B-53F1-692A-8303-0CB35510C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72718-C01A-991B-4A37-086A30F9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8ECA-DD31-4043-8C5E-310572863E3A}" type="datetime1">
              <a:rPr lang="pt-PT" smtClean="0"/>
              <a:t>05/06/2022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B0727-B638-7FB7-0BD6-C8A15146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871F4-8521-9BE6-2D59-F7F1B85B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628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5C92-B2AC-897F-1DDD-59BDF31C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E46DF-D7D7-8050-5803-09EDCCD9B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2E83D-9951-2F6C-BDE0-0BCCD6EFF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DBD3-2100-DCEA-573A-C28CD26D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DBC24-65C4-B148-AC96-F3227150CEF4}" type="datetime1">
              <a:rPr lang="pt-PT" smtClean="0"/>
              <a:t>05/06/2022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9A8AE-0062-10BF-8BFE-DF70AC28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DAAB3-A9B5-A956-A8AE-48145001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494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568F-6563-A570-5A7F-3440E179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37572-9EC0-708D-ADE2-5A4D018B2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0C768-2B34-57F0-631B-52377F71A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1EF2A-B2EE-B5A6-B97E-BD7D2068C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480DC-E7F2-192F-EAA3-3DDDFD035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6BAB6-FCB9-DD24-CD3E-8DCF9307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841B-1427-E249-AC18-8EF324F8FB75}" type="datetime1">
              <a:rPr lang="pt-PT" smtClean="0"/>
              <a:t>05/06/2022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CCB6F-0904-C770-3DBA-4088EE1E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EA4F8-278F-9521-1E69-4ED49195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587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D0D9-6F47-A301-67DD-859D96B1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E7B08-00D9-4788-7C98-459F1BEB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B06B-93BD-5F4D-9ACE-06E2835D6D36}" type="datetime1">
              <a:rPr lang="pt-PT" smtClean="0"/>
              <a:t>05/06/2022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B3784-B9A5-03E9-CB9C-86FD169A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8741F-A7A6-85EA-C623-B13568A3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1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C6500-9509-519D-9507-126DD040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1E5B1-2C9C-8247-87D6-738E06BE3F34}" type="datetime1">
              <a:rPr lang="pt-PT" smtClean="0"/>
              <a:t>05/06/2022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F0C0E-339B-C1E6-9FA8-D81E17E3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79DFD-E49F-44FB-BCE7-8966114E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260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4291-31D5-9500-9F75-D8A906D8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7B5CC-1C1B-64A6-700A-EDE2ADBF3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8166C-77BD-E347-09FE-2C08978B5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97396-4263-B05F-937D-4DAC3464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55E7-E7BA-DC4D-AA9F-30C1AC7F477B}" type="datetime1">
              <a:rPr lang="pt-PT" smtClean="0"/>
              <a:t>05/06/2022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CD2AF-C646-5ABE-4F08-4874896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3A755-A4F1-2EA7-E36B-E1EFDA1E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626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7A51-032D-9EE4-19DD-E740F24B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D7DCB-6FCE-206B-2490-F9D74A63F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75221-F6FE-1315-7F1D-29B426076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16484-4569-8AB1-8794-30C4756D6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2C2AE-EC19-3A4B-ACE9-4216D5A1ED6D}" type="datetime1">
              <a:rPr lang="pt-PT" smtClean="0"/>
              <a:t>05/06/2022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A5664-6BCF-5CC9-E76D-A992CB34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4A5F8-32BB-5133-5343-9335C785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671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82BF-C6F2-C657-A590-BAE71E6C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A313F-D59B-51A6-6D01-52BE3DAED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6553E-9AE8-7E79-7412-BD92031C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FE95-94C9-B542-8503-A1D8BC825886}" type="datetime1">
              <a:rPr lang="pt-PT" smtClean="0"/>
              <a:t>05/06/2022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A3A1B-AD86-83B7-57D8-1B084B16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B3985-8FEE-20F5-8300-64B948FD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9342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2AC3A-002D-F13A-87CD-DA13C4783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DA818-D753-0FC6-A2AC-144C91FC0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9FF5A-1CDE-4AAD-A6F6-82DBC1BC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75E3-9B30-BE43-9189-DD0E40769819}" type="datetime1">
              <a:rPr lang="pt-PT" smtClean="0"/>
              <a:t>05/06/2022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21ED0-50CA-70FF-1524-709D5AAD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FE260-A875-55F7-9B2F-0D749D5B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951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D740A-3C08-5845-4220-297DCEFA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FC246-5019-3002-64DB-FC45ACFC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E47F-47CD-50C5-4A35-3D9B2F2E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FBFA7-EEC7-4546-BD55-6FA001F04C8F}" type="datetime1">
              <a:rPr lang="pt-PT" smtClean="0"/>
              <a:t>05/06/2022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3579-4D17-27B0-ECCC-A9B442D89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2A89C-28F2-2CFE-636D-985E122DB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C6C3C-9AB5-44F2-AF66-B802365E26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421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4.png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4484AE-0EC5-11F6-7859-2FBFAC0E1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2358" y="3429000"/>
            <a:ext cx="4609649" cy="694840"/>
          </a:xfrm>
        </p:spPr>
        <p:txBody>
          <a:bodyPr anchor="t">
            <a:normAutofit fontScale="85000" lnSpcReduction="20000"/>
          </a:bodyPr>
          <a:lstStyle/>
          <a:p>
            <a:r>
              <a:rPr lang="pt-PT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PCB Conversor dc-dc step-</a:t>
            </a:r>
            <a:r>
              <a:rPr lang="pt-PT" sz="3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pt-PT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(boost)</a:t>
            </a:r>
            <a:endParaRPr lang="pt-PT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 descr="Início - Departamento de Eletrónica Industrial - Universidade do Minho">
            <a:extLst>
              <a:ext uri="{FF2B5EF4-FFF2-40B4-BE49-F238E27FC236}">
                <a16:creationId xmlns:a16="http://schemas.microsoft.com/office/drawing/2014/main" id="{2C5BE652-FE1A-CEC1-B813-28D45B889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4" r="12935" b="-1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4C5314-D4FE-2EEB-BBF9-60624FF23E30}"/>
              </a:ext>
            </a:extLst>
          </p:cNvPr>
          <p:cNvSpPr txBox="1"/>
          <p:nvPr/>
        </p:nvSpPr>
        <p:spPr>
          <a:xfrm>
            <a:off x="6213989" y="4341286"/>
            <a:ext cx="58263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UC: Práticas </a:t>
            </a:r>
            <a:r>
              <a:rPr lang="pt-PT" dirty="0" err="1">
                <a:solidFill>
                  <a:schemeClr val="bg1"/>
                </a:solidFill>
              </a:rPr>
              <a:t>Laboratorias</a:t>
            </a:r>
            <a:r>
              <a:rPr lang="pt-PT" dirty="0">
                <a:solidFill>
                  <a:schemeClr val="bg1"/>
                </a:solidFill>
              </a:rPr>
              <a:t> em Eletrónica Industrial e Computadores 3</a:t>
            </a:r>
          </a:p>
          <a:p>
            <a:pPr algn="ctr"/>
            <a:endParaRPr lang="pt-PT" dirty="0">
              <a:solidFill>
                <a:schemeClr val="bg1"/>
              </a:solidFill>
            </a:endParaRPr>
          </a:p>
          <a:p>
            <a:pPr algn="ctr"/>
            <a:r>
              <a:rPr lang="pt-PT" dirty="0">
                <a:solidFill>
                  <a:schemeClr val="bg1"/>
                </a:solidFill>
              </a:rPr>
              <a:t>Pl1 - Grupo 3</a:t>
            </a:r>
          </a:p>
          <a:p>
            <a:pPr algn="ctr"/>
            <a:r>
              <a:rPr lang="pt-PT" dirty="0">
                <a:solidFill>
                  <a:schemeClr val="bg1"/>
                </a:solidFill>
              </a:rPr>
              <a:t>Ana Tomaz Dias, A97229</a:t>
            </a:r>
          </a:p>
          <a:p>
            <a:pPr algn="ctr"/>
            <a:r>
              <a:rPr lang="pt-PT" dirty="0">
                <a:solidFill>
                  <a:schemeClr val="bg1"/>
                </a:solidFill>
              </a:rPr>
              <a:t>Catarina Carvalho de Sousa, A97259</a:t>
            </a:r>
          </a:p>
          <a:p>
            <a:pPr algn="ctr"/>
            <a:r>
              <a:rPr lang="pt-PT" dirty="0">
                <a:solidFill>
                  <a:schemeClr val="bg1"/>
                </a:solidFill>
              </a:rPr>
              <a:t>Luís Filipe Ferreira Menezes e Castro, A95781 </a:t>
            </a:r>
          </a:p>
          <a:p>
            <a:pPr algn="ctr"/>
            <a:r>
              <a:rPr lang="pt-PT" dirty="0">
                <a:solidFill>
                  <a:schemeClr val="bg1"/>
                </a:solidFill>
              </a:rPr>
              <a:t>Luís Miguel da Rocha Martins, A91970</a:t>
            </a:r>
          </a:p>
        </p:txBody>
      </p:sp>
      <p:pic>
        <p:nvPicPr>
          <p:cNvPr id="1030" name="Picture 6" descr="Eurotux: &quot;Friendly Company&quot; to the Engineering School of Universidade do  Minho | Eurotux">
            <a:extLst>
              <a:ext uri="{FF2B5EF4-FFF2-40B4-BE49-F238E27FC236}">
                <a16:creationId xmlns:a16="http://schemas.microsoft.com/office/drawing/2014/main" id="{C1651BAF-9676-BD41-9EE4-6EF582FD7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378" y="21382"/>
            <a:ext cx="19050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851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840B3-B644-75E4-C0CD-FF7981C7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73" y="448183"/>
            <a:ext cx="3484453" cy="1135737"/>
          </a:xfrm>
        </p:spPr>
        <p:txBody>
          <a:bodyPr>
            <a:normAutofit/>
          </a:bodyPr>
          <a:lstStyle/>
          <a:p>
            <a:pPr algn="ctr"/>
            <a:r>
              <a:rPr lang="pt-PT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3729A1F-CDBC-6335-CDB1-8128C7874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6875" y="2735723"/>
            <a:ext cx="3267351" cy="164601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Circuito de Controlo</a:t>
            </a:r>
          </a:p>
          <a:p>
            <a:pPr>
              <a:buFont typeface="Wingdings" pitchFamily="2" charset="2"/>
              <a:buChar char="q"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Circuito de Potência </a:t>
            </a:r>
          </a:p>
          <a:p>
            <a:pPr>
              <a:buFont typeface="Wingdings" pitchFamily="2" charset="2"/>
              <a:buChar char="q"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Circuito de Proteção</a:t>
            </a:r>
          </a:p>
        </p:txBody>
      </p:sp>
      <p:pic>
        <p:nvPicPr>
          <p:cNvPr id="9" name="Picture 6" descr="Eurotux: &quot;Friendly Company&quot; to the Engineering School of Universidade do  Minho | Eurotux">
            <a:extLst>
              <a:ext uri="{FF2B5EF4-FFF2-40B4-BE49-F238E27FC236}">
                <a16:creationId xmlns:a16="http://schemas.microsoft.com/office/drawing/2014/main" id="{3CCA510A-A0A8-939C-5E62-649B61878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" b="1380"/>
          <a:stretch/>
        </p:blipFill>
        <p:spPr bwMode="auto">
          <a:xfrm>
            <a:off x="-1" y="-7144"/>
            <a:ext cx="2011860" cy="162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C9E9B4B-1D47-5A41-D188-F788DCE9689F}"/>
              </a:ext>
            </a:extLst>
          </p:cNvPr>
          <p:cNvSpPr txBox="1"/>
          <p:nvPr/>
        </p:nvSpPr>
        <p:spPr>
          <a:xfrm>
            <a:off x="2011859" y="1797512"/>
            <a:ext cx="226489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Breadboard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eta para a Direita 4">
            <a:extLst>
              <a:ext uri="{FF2B5EF4-FFF2-40B4-BE49-F238E27FC236}">
                <a16:creationId xmlns:a16="http://schemas.microsoft.com/office/drawing/2014/main" id="{6E4E39D7-1D26-794F-34C3-E828AA5587EC}"/>
              </a:ext>
            </a:extLst>
          </p:cNvPr>
          <p:cNvSpPr/>
          <p:nvPr/>
        </p:nvSpPr>
        <p:spPr>
          <a:xfrm>
            <a:off x="4924226" y="2651599"/>
            <a:ext cx="1097280" cy="777401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7275D8F9-D611-D70E-0217-4A2162748F3B}"/>
              </a:ext>
            </a:extLst>
          </p:cNvPr>
          <p:cNvSpPr/>
          <p:nvPr/>
        </p:nvSpPr>
        <p:spPr>
          <a:xfrm>
            <a:off x="7007796" y="1996715"/>
            <a:ext cx="2166424" cy="147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</a:t>
            </a:r>
          </a:p>
        </p:txBody>
      </p:sp>
      <p:pic>
        <p:nvPicPr>
          <p:cNvPr id="13" name="Imagem 12" descr="Uma imagem com texto&#10;&#10;Descrição gerada automaticamente">
            <a:extLst>
              <a:ext uri="{FF2B5EF4-FFF2-40B4-BE49-F238E27FC236}">
                <a16:creationId xmlns:a16="http://schemas.microsoft.com/office/drawing/2014/main" id="{5310A882-5CE5-E7BD-3B05-BBC1445FC0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216" b="77081" l="15964" r="92220">
                        <a14:foregroundMark x1="88331" y1="67459" x2="91896" y2="56000"/>
                        <a14:foregroundMark x1="91896" y1="56000" x2="92220" y2="45189"/>
                        <a14:foregroundMark x1="65608" y1="67405" x2="62561" y2="67135"/>
                        <a14:foregroundMark x1="78444" y1="68541" x2="76579" y2="68376"/>
                        <a14:foregroundMark x1="20340" y1="68973" x2="20340" y2="68973"/>
                        <a14:foregroundMark x1="19530" y1="67784" x2="22042" y2="68973"/>
                        <a14:backgroundMark x1="67828" y1="70054" x2="76823" y2="70378"/>
                        <a14:backgroundMark x1="77147" y1="69622" x2="66126" y2="685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708" t="13189" b="15721"/>
          <a:stretch/>
        </p:blipFill>
        <p:spPr bwMode="auto">
          <a:xfrm>
            <a:off x="692747" y="3767993"/>
            <a:ext cx="4914951" cy="28085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Marcador de Posição de Conteúdo 4" descr="Uma imagem com brinquedo&#10;&#10;Descrição gerada automaticamente">
            <a:extLst>
              <a:ext uri="{FF2B5EF4-FFF2-40B4-BE49-F238E27FC236}">
                <a16:creationId xmlns:a16="http://schemas.microsoft.com/office/drawing/2014/main" id="{C2609BE1-687D-CE1B-F4D4-46DDD71F9C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895" b="70264" l="20573" r="77539">
                        <a14:foregroundMark x1="51628" y1="43945" x2="58919" y2="41895"/>
                        <a14:foregroundMark x1="58919" y1="41895" x2="58268" y2="42432"/>
                        <a14:foregroundMark x1="65560" y1="48926" x2="73047" y2="50635"/>
                        <a14:foregroundMark x1="73047" y1="50635" x2="77214" y2="69580"/>
                        <a14:foregroundMark x1="77214" y1="69580" x2="77604" y2="70068"/>
                        <a14:foregroundMark x1="20648" y1="69971" x2="23438" y2="59131"/>
                        <a14:backgroundMark x1="28646" y1="71289" x2="20247" y2="70605"/>
                        <a14:backgroundMark x1="29362" y1="70947" x2="23893" y2="706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66" t="40205" r="18912" b="28220"/>
          <a:stretch/>
        </p:blipFill>
        <p:spPr>
          <a:xfrm>
            <a:off x="6382139" y="3887526"/>
            <a:ext cx="3818058" cy="253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6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050F-742C-6804-6F10-E91CC00C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882" y="647126"/>
            <a:ext cx="7374235" cy="67134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br>
              <a:rPr lang="pt-PT" sz="4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4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PCB Conversor dc-dc step-</a:t>
            </a:r>
            <a:r>
              <a:rPr lang="pt-PT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pt-P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(boost)</a:t>
            </a:r>
            <a:br>
              <a:rPr lang="pt-PT" sz="3600" dirty="0"/>
            </a:b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6" descr="Eurotux: &quot;Friendly Company&quot; to the Engineering School of Universidade do  Minho | Eurotux">
            <a:extLst>
              <a:ext uri="{FF2B5EF4-FFF2-40B4-BE49-F238E27FC236}">
                <a16:creationId xmlns:a16="http://schemas.microsoft.com/office/drawing/2014/main" id="{CB21E33D-8367-FC0B-2BAB-C1C7B36D1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" b="1380"/>
          <a:stretch/>
        </p:blipFill>
        <p:spPr bwMode="auto">
          <a:xfrm>
            <a:off x="-1" y="-7144"/>
            <a:ext cx="2011860" cy="162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277B2B-CC6E-83F0-349B-435639CE25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370" r="-1" b="-372"/>
          <a:stretch/>
        </p:blipFill>
        <p:spPr>
          <a:xfrm>
            <a:off x="6604943" y="2548483"/>
            <a:ext cx="3684224" cy="266718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EAFC43-6AC2-A1F2-7C9D-47FE1E591AF1}"/>
              </a:ext>
            </a:extLst>
          </p:cNvPr>
          <p:cNvSpPr txBox="1"/>
          <p:nvPr/>
        </p:nvSpPr>
        <p:spPr>
          <a:xfrm>
            <a:off x="1861803" y="1965595"/>
            <a:ext cx="3854369" cy="384597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pic>
        <p:nvPicPr>
          <p:cNvPr id="77" name="Marcador de Posição de Conteúdo 4" descr="Uma imagem com brinquedo&#10;&#10;Descrição gerada automaticamente">
            <a:extLst>
              <a:ext uri="{FF2B5EF4-FFF2-40B4-BE49-F238E27FC236}">
                <a16:creationId xmlns:a16="http://schemas.microsoft.com/office/drawing/2014/main" id="{3201AC75-F955-9C1A-C898-8CFDA1B9C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1797" b="70264" l="20573" r="77474">
                        <a14:foregroundMark x1="51628" y1="43945" x2="58919" y2="41895"/>
                        <a14:foregroundMark x1="58919" y1="41895" x2="58268" y2="42432"/>
                        <a14:foregroundMark x1="65560" y1="48926" x2="73047" y2="50635"/>
                        <a14:foregroundMark x1="73047" y1="50635" x2="77214" y2="69580"/>
                        <a14:foregroundMark x1="77214" y1="69580" x2="77604" y2="70068"/>
                        <a14:foregroundMark x1="20648" y1="69971" x2="23438" y2="59131"/>
                        <a14:foregroundMark x1="58138" y1="42236" x2="52474" y2="41992"/>
                        <a14:foregroundMark x1="58138" y1="42236" x2="55859" y2="41992"/>
                        <a14:foregroundMark x1="56706" y1="41992" x2="55859" y2="42236"/>
                        <a14:foregroundMark x1="58398" y1="42236" x2="52474" y2="41797"/>
                        <a14:backgroundMark x1="28646" y1="71289" x2="20247" y2="70605"/>
                        <a14:backgroundMark x1="29362" y1="70947" x2="23893" y2="706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277" t="40205" r="21807" b="28220"/>
          <a:stretch/>
        </p:blipFill>
        <p:spPr>
          <a:xfrm>
            <a:off x="2162283" y="2748013"/>
            <a:ext cx="3314786" cy="2368633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CF00B3E-11B1-F8D8-C88A-C66B9DB69DCF}"/>
              </a:ext>
            </a:extLst>
          </p:cNvPr>
          <p:cNvSpPr txBox="1"/>
          <p:nvPr/>
        </p:nvSpPr>
        <p:spPr>
          <a:xfrm>
            <a:off x="6396234" y="2277831"/>
            <a:ext cx="4037428" cy="322150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7889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EE24082A-DA6C-B009-C88D-9D674FB0C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578327"/>
              </p:ext>
            </p:extLst>
          </p:nvPr>
        </p:nvGraphicFramePr>
        <p:xfrm>
          <a:off x="838200" y="2166425"/>
          <a:ext cx="10570698" cy="1891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3566">
                  <a:extLst>
                    <a:ext uri="{9D8B030D-6E8A-4147-A177-3AD203B41FA5}">
                      <a16:colId xmlns:a16="http://schemas.microsoft.com/office/drawing/2014/main" val="1050771386"/>
                    </a:ext>
                  </a:extLst>
                </a:gridCol>
                <a:gridCol w="3523566">
                  <a:extLst>
                    <a:ext uri="{9D8B030D-6E8A-4147-A177-3AD203B41FA5}">
                      <a16:colId xmlns:a16="http://schemas.microsoft.com/office/drawing/2014/main" val="675378139"/>
                    </a:ext>
                  </a:extLst>
                </a:gridCol>
                <a:gridCol w="3523566">
                  <a:extLst>
                    <a:ext uri="{9D8B030D-6E8A-4147-A177-3AD203B41FA5}">
                      <a16:colId xmlns:a16="http://schemas.microsoft.com/office/drawing/2014/main" val="159407969"/>
                    </a:ext>
                  </a:extLst>
                </a:gridCol>
              </a:tblGrid>
              <a:tr h="403441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Vin</a:t>
                      </a:r>
                      <a:endParaRPr lang="pt-PT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Vout</a:t>
                      </a:r>
                      <a:endParaRPr lang="pt-P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052307"/>
                  </a:ext>
                </a:extLst>
              </a:tr>
              <a:tr h="744242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PCB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15V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0445267"/>
                  </a:ext>
                </a:extLst>
              </a:tr>
              <a:tr h="744242"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Breadboard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15V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26V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50520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6" descr="Eurotux: &quot;Friendly Company&quot; to the Engineering School of Universidade do  Minho | Eurotux">
            <a:extLst>
              <a:ext uri="{FF2B5EF4-FFF2-40B4-BE49-F238E27FC236}">
                <a16:creationId xmlns:a16="http://schemas.microsoft.com/office/drawing/2014/main" id="{EF4847D5-29F9-56E3-43B8-E98181254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61" y="79708"/>
            <a:ext cx="19050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095EB88-DD5F-4F1F-7F69-13816EB91B61}"/>
              </a:ext>
            </a:extLst>
          </p:cNvPr>
          <p:cNvSpPr txBox="1">
            <a:spLocks/>
          </p:cNvSpPr>
          <p:nvPr/>
        </p:nvSpPr>
        <p:spPr>
          <a:xfrm>
            <a:off x="3846545" y="500062"/>
            <a:ext cx="44989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Comparativa</a:t>
            </a:r>
          </a:p>
        </p:txBody>
      </p:sp>
      <p:pic>
        <p:nvPicPr>
          <p:cNvPr id="13" name="Imagem 12" descr="Uma imagem com texto&#10;&#10;Descrição gerada automaticamente">
            <a:extLst>
              <a:ext uri="{FF2B5EF4-FFF2-40B4-BE49-F238E27FC236}">
                <a16:creationId xmlns:a16="http://schemas.microsoft.com/office/drawing/2014/main" id="{3DCB7C2E-6D00-E852-9B6C-16B3A4D809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216" b="77081" l="15964" r="92220">
                        <a14:foregroundMark x1="88331" y1="67459" x2="91896" y2="56000"/>
                        <a14:foregroundMark x1="91896" y1="56000" x2="92220" y2="45189"/>
                        <a14:foregroundMark x1="65608" y1="67405" x2="62561" y2="67135"/>
                        <a14:foregroundMark x1="78444" y1="68541" x2="76579" y2="68376"/>
                        <a14:foregroundMark x1="20340" y1="68973" x2="20340" y2="68973"/>
                        <a14:foregroundMark x1="19530" y1="67784" x2="22042" y2="68973"/>
                        <a14:backgroundMark x1="67828" y1="70054" x2="76823" y2="70378"/>
                        <a14:backgroundMark x1="77147" y1="69622" x2="66126" y2="685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708" t="13189" b="15721"/>
          <a:stretch/>
        </p:blipFill>
        <p:spPr bwMode="auto">
          <a:xfrm>
            <a:off x="1852260" y="3924530"/>
            <a:ext cx="4787265" cy="27355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Marcador de Posição de Conteúdo 4" descr="Uma imagem com brinquedo&#10;&#10;Descrição gerada automaticamente">
            <a:extLst>
              <a:ext uri="{FF2B5EF4-FFF2-40B4-BE49-F238E27FC236}">
                <a16:creationId xmlns:a16="http://schemas.microsoft.com/office/drawing/2014/main" id="{E63DC73B-BCBF-EF57-12A2-0955D6AC4DD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895" b="70264" l="20573" r="77539">
                        <a14:foregroundMark x1="51628" y1="43945" x2="58919" y2="41895"/>
                        <a14:foregroundMark x1="58919" y1="41895" x2="58268" y2="42432"/>
                        <a14:foregroundMark x1="65560" y1="48926" x2="73047" y2="50635"/>
                        <a14:foregroundMark x1="73047" y1="50635" x2="77214" y2="69580"/>
                        <a14:foregroundMark x1="77214" y1="69580" x2="77604" y2="70068"/>
                        <a14:foregroundMark x1="20648" y1="69971" x2="23438" y2="59131"/>
                        <a14:backgroundMark x1="28646" y1="71289" x2="20247" y2="70605"/>
                        <a14:backgroundMark x1="29362" y1="70947" x2="23893" y2="706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66" t="40205" r="18912" b="28220"/>
          <a:stretch/>
        </p:blipFill>
        <p:spPr>
          <a:xfrm>
            <a:off x="8073358" y="4601497"/>
            <a:ext cx="2845610" cy="1891925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254B9026-0124-9DEA-211F-BFB1BB3A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488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552C4AF0-D203-55B2-E28F-B0DD2F288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629335"/>
              </p:ext>
            </p:extLst>
          </p:nvPr>
        </p:nvGraphicFramePr>
        <p:xfrm>
          <a:off x="838200" y="1825625"/>
          <a:ext cx="10515597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487219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854265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94107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456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Bobina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470 µH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L21.6mm_W9.1mm_P8.40mm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281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Condensador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10µF 100V</a:t>
                      </a:r>
                      <a:endParaRPr lang="pt-P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L31.5mm_W17.0mm_P27.50mm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579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Díodo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P15.24mm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53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Díodo </a:t>
                      </a:r>
                      <a:r>
                        <a:rPr lang="pt-P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Zener</a:t>
                      </a:r>
                      <a:endParaRPr lang="pt-P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P7.62mm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1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Resistência R1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5.1 KΩ</a:t>
                      </a:r>
                      <a:r>
                        <a:rPr lang="pt-P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L6.3mm_D2.5mm_P10.16mm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219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Resistência R2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160 Ω</a:t>
                      </a:r>
                      <a:r>
                        <a:rPr lang="pt-P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pt-P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L6.3mm_D2.5mm_P10.16mm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Resistência </a:t>
                      </a:r>
                      <a:r>
                        <a:rPr lang="pt-P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Rgate</a:t>
                      </a:r>
                      <a:endParaRPr lang="pt-P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10 </a:t>
                      </a:r>
                      <a:r>
                        <a:rPr lang="pt-PT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Ω</a:t>
                      </a:r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L6.3mm_D2.5mm_P10.16mm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Resistência </a:t>
                      </a:r>
                      <a:r>
                        <a:rPr lang="pt-P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Rproteção</a:t>
                      </a:r>
                      <a:endParaRPr lang="pt-P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10 K</a:t>
                      </a:r>
                      <a:r>
                        <a:rPr lang="pt-PT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Ω</a:t>
                      </a:r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L6.3mm_D2.5mm_P10.16mm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5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MOSFET TK40E10N1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125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Transístor BC546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4278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6" descr="Eurotux: &quot;Friendly Company&quot; to the Engineering School of Universidade do  Minho | Eurotux">
            <a:extLst>
              <a:ext uri="{FF2B5EF4-FFF2-40B4-BE49-F238E27FC236}">
                <a16:creationId xmlns:a16="http://schemas.microsoft.com/office/drawing/2014/main" id="{2639FD29-4EDC-3919-9106-CF314719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61" y="79708"/>
            <a:ext cx="19050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6DF616F-6A0F-7BE1-BC76-8E15024B2802}"/>
              </a:ext>
            </a:extLst>
          </p:cNvPr>
          <p:cNvSpPr txBox="1">
            <a:spLocks/>
          </p:cNvSpPr>
          <p:nvPr/>
        </p:nvSpPr>
        <p:spPr>
          <a:xfrm>
            <a:off x="3846545" y="500062"/>
            <a:ext cx="44989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BE7DDF4-1374-EA09-7EFA-EBD7D9817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19811"/>
              </p:ext>
            </p:extLst>
          </p:nvPr>
        </p:nvGraphicFramePr>
        <p:xfrm>
          <a:off x="4292600" y="5987387"/>
          <a:ext cx="3440289" cy="788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841">
                  <a:extLst>
                    <a:ext uri="{9D8B030D-6E8A-4147-A177-3AD203B41FA5}">
                      <a16:colId xmlns:a16="http://schemas.microsoft.com/office/drawing/2014/main" val="2062080464"/>
                    </a:ext>
                  </a:extLst>
                </a:gridCol>
                <a:gridCol w="1721448">
                  <a:extLst>
                    <a:ext uri="{9D8B030D-6E8A-4147-A177-3AD203B41FA5}">
                      <a16:colId xmlns:a16="http://schemas.microsoft.com/office/drawing/2014/main" val="3012098057"/>
                    </a:ext>
                  </a:extLst>
                </a:gridCol>
              </a:tblGrid>
              <a:tr h="118439">
                <a:tc>
                  <a:txBody>
                    <a:bodyPr/>
                    <a:lstStyle/>
                    <a:p>
                      <a:pPr algn="ctr"/>
                      <a:r>
                        <a:rPr lang="pt-PT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Duty-cycle</a:t>
                      </a:r>
                      <a:endParaRPr lang="pt-PT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Frequência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209"/>
                  </a:ext>
                </a:extLst>
              </a:tr>
              <a:tr h="42233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30% - 70%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5K - 50K HZ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9733"/>
                  </a:ext>
                </a:extLst>
              </a:tr>
            </a:tbl>
          </a:graphicData>
        </a:graphic>
      </p:graphicFrame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EFD0DB76-C8B4-E4DC-4061-6B33F8D8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52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urotux: &quot;Friendly Company&quot; to the Engineering School of Universidade do  Minho | Eurotux">
            <a:extLst>
              <a:ext uri="{FF2B5EF4-FFF2-40B4-BE49-F238E27FC236}">
                <a16:creationId xmlns:a16="http://schemas.microsoft.com/office/drawing/2014/main" id="{2639FD29-4EDC-3919-9106-CF314719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99" y="0"/>
            <a:ext cx="19050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6DF616F-6A0F-7BE1-BC76-8E15024B2802}"/>
              </a:ext>
            </a:extLst>
          </p:cNvPr>
          <p:cNvSpPr txBox="1">
            <a:spLocks/>
          </p:cNvSpPr>
          <p:nvPr/>
        </p:nvSpPr>
        <p:spPr>
          <a:xfrm>
            <a:off x="3846545" y="500062"/>
            <a:ext cx="44989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Início - Departamento de Eletrónica Industrial - Universidade do Minho">
            <a:extLst>
              <a:ext uri="{FF2B5EF4-FFF2-40B4-BE49-F238E27FC236}">
                <a16:creationId xmlns:a16="http://schemas.microsoft.com/office/drawing/2014/main" id="{770A868D-0C60-3D75-CC17-12082EA9CB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4" r="12935" b="-1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DF79826-3093-BA9B-B984-BD940AEBDF23}"/>
              </a:ext>
            </a:extLst>
          </p:cNvPr>
          <p:cNvSpPr txBox="1"/>
          <p:nvPr/>
        </p:nvSpPr>
        <p:spPr>
          <a:xfrm>
            <a:off x="7899816" y="2593298"/>
            <a:ext cx="400237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Obrigado pela atenção!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BE985E-4F92-B792-1B52-02E0E489B6BB}"/>
              </a:ext>
            </a:extLst>
          </p:cNvPr>
          <p:cNvSpPr txBox="1"/>
          <p:nvPr/>
        </p:nvSpPr>
        <p:spPr>
          <a:xfrm>
            <a:off x="6865495" y="4152275"/>
            <a:ext cx="53265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UC: Práticas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Laboratorias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Eletrónica Industrial e Computadores</a:t>
            </a:r>
          </a:p>
          <a:p>
            <a:pPr algn="ctr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Pl1 - Grupo 3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 Tomaz Dias, A97229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Catarina Carvalho de Sousa, A97259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Luís Filipe Ferreira Menezes e Castro, A95781 </a:t>
            </a:r>
          </a:p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Luís Miguel da Rocha Martins, A91970</a:t>
            </a:r>
          </a:p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8AF27BB-4106-9CA1-DF4A-7422A891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C6C3C-9AB5-44F2-AF66-B802365E261D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8681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2356</TotalTime>
  <Words>203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Desenvolvimento</vt:lpstr>
      <vt:lpstr>  PCB Conversor dc-dc step-up (boost)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Catarina Carvalho de Sousa</dc:creator>
  <cp:lastModifiedBy>Catarina Carvalho de Sousa</cp:lastModifiedBy>
  <cp:revision>9</cp:revision>
  <dcterms:created xsi:type="dcterms:W3CDTF">2022-05-24T19:08:42Z</dcterms:created>
  <dcterms:modified xsi:type="dcterms:W3CDTF">2022-06-05T20:36:47Z</dcterms:modified>
</cp:coreProperties>
</file>