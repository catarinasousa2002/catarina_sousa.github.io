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16.xml" ContentType="application/inkml+xml"/>
  <Override PartName="/ppt/notesSlides/notesSlide13.xml" ContentType="application/vnd.openxmlformats-officedocument.presentationml.notesSlide+xml"/>
  <Override PartName="/ppt/ink/ink17.xml" ContentType="application/inkml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ink/ink18.xml" ContentType="application/inkml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5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6.xml" ContentType="application/vnd.openxmlformats-officedocument.presentationml.notesSlide+xml"/>
  <Override PartName="/ppt/ink/ink21.xml" ContentType="application/inkml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ink/ink22.xml" ContentType="application/inkml+xml"/>
  <Override PartName="/ppt/notesSlides/notesSlide17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8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66" r:id="rId3"/>
    <p:sldId id="257" r:id="rId4"/>
    <p:sldId id="261" r:id="rId5"/>
    <p:sldId id="262" r:id="rId6"/>
    <p:sldId id="263" r:id="rId7"/>
    <p:sldId id="264" r:id="rId8"/>
    <p:sldId id="265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7" r:id="rId17"/>
    <p:sldId id="278" r:id="rId18"/>
    <p:sldId id="279" r:id="rId19"/>
    <p:sldId id="281" r:id="rId20"/>
    <p:sldId id="282" r:id="rId21"/>
    <p:sldId id="280" r:id="rId22"/>
    <p:sldId id="287" r:id="rId23"/>
    <p:sldId id="283" r:id="rId24"/>
    <p:sldId id="286" r:id="rId25"/>
    <p:sldId id="284" r:id="rId26"/>
    <p:sldId id="285" r:id="rId27"/>
    <p:sldId id="288" r:id="rId28"/>
    <p:sldId id="300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9" r:id="rId39"/>
    <p:sldId id="301" r:id="rId40"/>
    <p:sldId id="302" r:id="rId41"/>
    <p:sldId id="323" r:id="rId42"/>
    <p:sldId id="324" r:id="rId43"/>
    <p:sldId id="303" r:id="rId44"/>
    <p:sldId id="305" r:id="rId45"/>
    <p:sldId id="325" r:id="rId46"/>
    <p:sldId id="326" r:id="rId47"/>
    <p:sldId id="307" r:id="rId48"/>
    <p:sldId id="308" r:id="rId49"/>
    <p:sldId id="327" r:id="rId50"/>
    <p:sldId id="328" r:id="rId51"/>
    <p:sldId id="309" r:id="rId52"/>
    <p:sldId id="310" r:id="rId53"/>
    <p:sldId id="311" r:id="rId54"/>
    <p:sldId id="312" r:id="rId55"/>
    <p:sldId id="313" r:id="rId56"/>
    <p:sldId id="314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9" r:id="rId65"/>
    <p:sldId id="330" r:id="rId66"/>
    <p:sldId id="331" r:id="rId67"/>
    <p:sldId id="332" r:id="rId6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abe\Desktop\2&#186;Semestre\Projeto%202\CP2%20-%20Controlo%20Digital\obj6\Objetivo%20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abe\Desktop\2&#186;Semestre\Projeto%202\CP2%20-%20Controlo%20Digital\obj6\Objetivo%20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abe\Desktop\2&#186;Semestre\Projeto%202\CP2%20-%20Controlo%20Digital\obj6\Objetivo%20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abe\Desktop\2&#186;Semestre\Projeto%202\CP2%20-%20Controlo%20Digital\obj6\Objetivo%20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abe\Desktop\2&#186;Semestre\Projeto%202\CP2%20-%20Controlo%20Digital\obj6\Objetivo%20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abe\Desktop\2&#186;Semestre\Projeto%202\CP2%20-%20Controlo%20Digital\obj6\Objetivo%20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abe\Desktop\2&#186;Semestre\Projeto%202\CP2%20-%20Controlo%20Digital\obj6\Objetivo%20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Resposta</a:t>
            </a:r>
            <a:r>
              <a:rPr lang="en-US" dirty="0"/>
              <a:t> do</a:t>
            </a:r>
            <a:r>
              <a:rPr lang="en-US" baseline="0" dirty="0"/>
              <a:t> </a:t>
            </a:r>
            <a:r>
              <a:rPr lang="en-US" baseline="0" dirty="0" err="1"/>
              <a:t>controlador</a:t>
            </a:r>
            <a:r>
              <a:rPr lang="en-US" dirty="0"/>
              <a:t> </a:t>
            </a:r>
            <a:r>
              <a:rPr lang="en-US" dirty="0" err="1"/>
              <a:t>proporcional</a:t>
            </a:r>
            <a:r>
              <a:rPr lang="en-US" dirty="0"/>
              <a:t>,</a:t>
            </a:r>
          </a:p>
          <a:p>
            <a:pPr>
              <a:defRPr/>
            </a:pPr>
            <a:r>
              <a:rPr lang="en-US" dirty="0" err="1"/>
              <a:t>Kp</a:t>
            </a:r>
            <a:r>
              <a:rPr lang="en-US" dirty="0"/>
              <a:t>=1,5 ; </a:t>
            </a:r>
            <a:r>
              <a:rPr lang="pt-PT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HW = 10ms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Folha1!$H$11</c:f>
              <c:strCache>
                <c:ptCount val="1"/>
                <c:pt idx="0">
                  <c:v>y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Folha1!$G$12:$G$62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Folha1!$H$12:$H$62</c:f>
              <c:numCache>
                <c:formatCode>General</c:formatCode>
                <c:ptCount val="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AC-4B9F-B593-580E5DB6449B}"/>
            </c:ext>
          </c:extLst>
        </c:ser>
        <c:ser>
          <c:idx val="2"/>
          <c:order val="2"/>
          <c:tx>
            <c:strRef>
              <c:f>Folha1!$J$11</c:f>
              <c:strCache>
                <c:ptCount val="1"/>
                <c:pt idx="0">
                  <c:v>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Folha1!$G$12:$G$62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Folha1!$J$12:$J$62</c:f>
              <c:numCache>
                <c:formatCode>General</c:formatCode>
                <c:ptCount val="51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-1.5</c:v>
                </c:pt>
                <c:pt idx="11">
                  <c:v>-1.5</c:v>
                </c:pt>
                <c:pt idx="12">
                  <c:v>-1.5</c:v>
                </c:pt>
                <c:pt idx="13">
                  <c:v>-1.5</c:v>
                </c:pt>
                <c:pt idx="14">
                  <c:v>-1.5</c:v>
                </c:pt>
                <c:pt idx="15">
                  <c:v>-1.5</c:v>
                </c:pt>
                <c:pt idx="16">
                  <c:v>-1.5</c:v>
                </c:pt>
                <c:pt idx="17">
                  <c:v>-1.5</c:v>
                </c:pt>
                <c:pt idx="18">
                  <c:v>-1.5</c:v>
                </c:pt>
                <c:pt idx="19">
                  <c:v>-1.5</c:v>
                </c:pt>
                <c:pt idx="20">
                  <c:v>1.5</c:v>
                </c:pt>
                <c:pt idx="21">
                  <c:v>1.5</c:v>
                </c:pt>
                <c:pt idx="22">
                  <c:v>1.5</c:v>
                </c:pt>
                <c:pt idx="23">
                  <c:v>1.5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-1.5</c:v>
                </c:pt>
                <c:pt idx="31">
                  <c:v>-1.5</c:v>
                </c:pt>
                <c:pt idx="32">
                  <c:v>-1.5</c:v>
                </c:pt>
                <c:pt idx="33">
                  <c:v>-1.5</c:v>
                </c:pt>
                <c:pt idx="34">
                  <c:v>-1.5</c:v>
                </c:pt>
                <c:pt idx="35">
                  <c:v>-1.5</c:v>
                </c:pt>
                <c:pt idx="36">
                  <c:v>-1.5</c:v>
                </c:pt>
                <c:pt idx="37">
                  <c:v>-1.5</c:v>
                </c:pt>
                <c:pt idx="38">
                  <c:v>-1.5</c:v>
                </c:pt>
                <c:pt idx="39">
                  <c:v>-1.5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-1.5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AC-4B9F-B593-580E5DB644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2187471"/>
        <c:axId val="962189871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Folha1!$I$11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Folha1!$G$12:$G$62</c15:sqref>
                        </c15:formulaRef>
                      </c:ext>
                    </c:extLst>
                    <c:numCache>
                      <c:formatCode>General</c:formatCode>
                      <c:ptCount val="51"/>
                      <c:pt idx="0">
                        <c:v>0</c:v>
                      </c:pt>
                      <c:pt idx="1">
                        <c:v>0.01</c:v>
                      </c:pt>
                      <c:pt idx="2">
                        <c:v>0.02</c:v>
                      </c:pt>
                      <c:pt idx="3">
                        <c:v>0.03</c:v>
                      </c:pt>
                      <c:pt idx="4">
                        <c:v>0.04</c:v>
                      </c:pt>
                      <c:pt idx="5">
                        <c:v>0.05</c:v>
                      </c:pt>
                      <c:pt idx="6">
                        <c:v>0.06</c:v>
                      </c:pt>
                      <c:pt idx="7">
                        <c:v>7.0000000000000007E-2</c:v>
                      </c:pt>
                      <c:pt idx="8">
                        <c:v>0.08</c:v>
                      </c:pt>
                      <c:pt idx="9">
                        <c:v>0.09</c:v>
                      </c:pt>
                      <c:pt idx="10">
                        <c:v>0.1</c:v>
                      </c:pt>
                      <c:pt idx="11">
                        <c:v>0.11</c:v>
                      </c:pt>
                      <c:pt idx="12">
                        <c:v>0.12</c:v>
                      </c:pt>
                      <c:pt idx="13">
                        <c:v>0.13</c:v>
                      </c:pt>
                      <c:pt idx="14">
                        <c:v>0.14000000000000001</c:v>
                      </c:pt>
                      <c:pt idx="15">
                        <c:v>0.15</c:v>
                      </c:pt>
                      <c:pt idx="16">
                        <c:v>0.16</c:v>
                      </c:pt>
                      <c:pt idx="17">
                        <c:v>0.17</c:v>
                      </c:pt>
                      <c:pt idx="18">
                        <c:v>0.18</c:v>
                      </c:pt>
                      <c:pt idx="19">
                        <c:v>0.19</c:v>
                      </c:pt>
                      <c:pt idx="20">
                        <c:v>0.2</c:v>
                      </c:pt>
                      <c:pt idx="21">
                        <c:v>0.21</c:v>
                      </c:pt>
                      <c:pt idx="22">
                        <c:v>0.22</c:v>
                      </c:pt>
                      <c:pt idx="23">
                        <c:v>0.23</c:v>
                      </c:pt>
                      <c:pt idx="24">
                        <c:v>0.24</c:v>
                      </c:pt>
                      <c:pt idx="25">
                        <c:v>0.25</c:v>
                      </c:pt>
                      <c:pt idx="26">
                        <c:v>0.26</c:v>
                      </c:pt>
                      <c:pt idx="27">
                        <c:v>0.27</c:v>
                      </c:pt>
                      <c:pt idx="28">
                        <c:v>0.28000000000000003</c:v>
                      </c:pt>
                      <c:pt idx="29">
                        <c:v>0.28999999999999998</c:v>
                      </c:pt>
                      <c:pt idx="30">
                        <c:v>0.3</c:v>
                      </c:pt>
                      <c:pt idx="31">
                        <c:v>0.31</c:v>
                      </c:pt>
                      <c:pt idx="32">
                        <c:v>0.32</c:v>
                      </c:pt>
                      <c:pt idx="33">
                        <c:v>0.33</c:v>
                      </c:pt>
                      <c:pt idx="34">
                        <c:v>0.34</c:v>
                      </c:pt>
                      <c:pt idx="35">
                        <c:v>0.35</c:v>
                      </c:pt>
                      <c:pt idx="36">
                        <c:v>0.36</c:v>
                      </c:pt>
                      <c:pt idx="37">
                        <c:v>0.37</c:v>
                      </c:pt>
                      <c:pt idx="38">
                        <c:v>0.38</c:v>
                      </c:pt>
                      <c:pt idx="39">
                        <c:v>0.39</c:v>
                      </c:pt>
                      <c:pt idx="40">
                        <c:v>0.4</c:v>
                      </c:pt>
                      <c:pt idx="41">
                        <c:v>0.41</c:v>
                      </c:pt>
                      <c:pt idx="42">
                        <c:v>0.42</c:v>
                      </c:pt>
                      <c:pt idx="43">
                        <c:v>0.43</c:v>
                      </c:pt>
                      <c:pt idx="44">
                        <c:v>0.44</c:v>
                      </c:pt>
                      <c:pt idx="45">
                        <c:v>0.45</c:v>
                      </c:pt>
                      <c:pt idx="46">
                        <c:v>0.46</c:v>
                      </c:pt>
                      <c:pt idx="47">
                        <c:v>0.47</c:v>
                      </c:pt>
                      <c:pt idx="48">
                        <c:v>0.48</c:v>
                      </c:pt>
                      <c:pt idx="49">
                        <c:v>0.49</c:v>
                      </c:pt>
                      <c:pt idx="50">
                        <c:v>0.5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Folha1!$I$12:$I$62</c15:sqref>
                        </c15:formulaRef>
                      </c:ext>
                    </c:extLst>
                    <c:numCache>
                      <c:formatCode>General</c:formatCode>
                      <c:ptCount val="51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81AC-4B9F-B593-580E5DB6449B}"/>
                  </c:ext>
                </c:extLst>
              </c15:ser>
            </c15:filteredLineSeries>
          </c:ext>
        </c:extLst>
      </c:lineChart>
      <c:catAx>
        <c:axId val="9621874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Tempo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962189871"/>
        <c:crosses val="autoZero"/>
        <c:auto val="1"/>
        <c:lblAlgn val="ctr"/>
        <c:lblOffset val="100"/>
        <c:noMultiLvlLbl val="0"/>
      </c:catAx>
      <c:valAx>
        <c:axId val="962189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962187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Resposta</a:t>
            </a: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da </a:t>
            </a:r>
            <a:r>
              <a:rPr lang="en-US" sz="1400" b="0" i="0" u="none" strike="noStrike" kern="1200" spc="0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componente</a:t>
            </a: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integral, </a:t>
            </a:r>
          </a:p>
          <a:p>
            <a:pPr>
              <a:defRPr/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Ki=20, </a:t>
            </a:r>
            <a:r>
              <a:rPr lang="pt-PT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HW = 10ms</a:t>
            </a:r>
            <a:endParaRPr lang="en-US" sz="1400" b="0" i="0" u="none" strike="noStrike" kern="1200" spc="0" baseline="0" dirty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Folha1!$H$69</c:f>
              <c:strCache>
                <c:ptCount val="1"/>
                <c:pt idx="0">
                  <c:v>y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Folha1!$G$70:$G$120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Folha1!$H$70:$H$120</c:f>
              <c:numCache>
                <c:formatCode>General</c:formatCode>
                <c:ptCount val="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25-4AFE-AD4D-A7E6962D1D3D}"/>
            </c:ext>
          </c:extLst>
        </c:ser>
        <c:ser>
          <c:idx val="2"/>
          <c:order val="2"/>
          <c:tx>
            <c:strRef>
              <c:f>Folha1!$J$69</c:f>
              <c:strCache>
                <c:ptCount val="1"/>
                <c:pt idx="0">
                  <c:v>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Folha1!$G$70:$G$120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Folha1!$J$70:$J$120</c:f>
              <c:numCache>
                <c:formatCode>General</c:formatCode>
                <c:ptCount val="51"/>
                <c:pt idx="0">
                  <c:v>0.2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</c:v>
                </c:pt>
                <c:pt idx="5">
                  <c:v>0.8</c:v>
                </c:pt>
                <c:pt idx="6">
                  <c:v>0.6</c:v>
                </c:pt>
                <c:pt idx="7">
                  <c:v>0.4</c:v>
                </c:pt>
                <c:pt idx="8">
                  <c:v>0.2</c:v>
                </c:pt>
                <c:pt idx="9">
                  <c:v>0</c:v>
                </c:pt>
                <c:pt idx="10">
                  <c:v>-0.2</c:v>
                </c:pt>
                <c:pt idx="11">
                  <c:v>-0.4</c:v>
                </c:pt>
                <c:pt idx="12">
                  <c:v>-0.6</c:v>
                </c:pt>
                <c:pt idx="13">
                  <c:v>-0.8</c:v>
                </c:pt>
                <c:pt idx="14">
                  <c:v>-1</c:v>
                </c:pt>
                <c:pt idx="15">
                  <c:v>-0.8</c:v>
                </c:pt>
                <c:pt idx="16">
                  <c:v>-0.6</c:v>
                </c:pt>
                <c:pt idx="17">
                  <c:v>-0.4</c:v>
                </c:pt>
                <c:pt idx="18">
                  <c:v>-0.2</c:v>
                </c:pt>
                <c:pt idx="19">
                  <c:v>0</c:v>
                </c:pt>
                <c:pt idx="20">
                  <c:v>0.2</c:v>
                </c:pt>
                <c:pt idx="21">
                  <c:v>0.4</c:v>
                </c:pt>
                <c:pt idx="22">
                  <c:v>0.6</c:v>
                </c:pt>
                <c:pt idx="23">
                  <c:v>0.8</c:v>
                </c:pt>
                <c:pt idx="24">
                  <c:v>1</c:v>
                </c:pt>
                <c:pt idx="25">
                  <c:v>0.8</c:v>
                </c:pt>
                <c:pt idx="26">
                  <c:v>0.6</c:v>
                </c:pt>
                <c:pt idx="27">
                  <c:v>0.4</c:v>
                </c:pt>
                <c:pt idx="28">
                  <c:v>0.2</c:v>
                </c:pt>
                <c:pt idx="29">
                  <c:v>0</c:v>
                </c:pt>
                <c:pt idx="30">
                  <c:v>-0.2</c:v>
                </c:pt>
                <c:pt idx="31">
                  <c:v>-0.4</c:v>
                </c:pt>
                <c:pt idx="32">
                  <c:v>-0.6</c:v>
                </c:pt>
                <c:pt idx="33">
                  <c:v>-0.8</c:v>
                </c:pt>
                <c:pt idx="34">
                  <c:v>-1</c:v>
                </c:pt>
                <c:pt idx="35">
                  <c:v>-0.8</c:v>
                </c:pt>
                <c:pt idx="36">
                  <c:v>-0.6</c:v>
                </c:pt>
                <c:pt idx="37">
                  <c:v>-0.4</c:v>
                </c:pt>
                <c:pt idx="38">
                  <c:v>-0.2</c:v>
                </c:pt>
                <c:pt idx="39">
                  <c:v>0</c:v>
                </c:pt>
                <c:pt idx="40">
                  <c:v>0.2</c:v>
                </c:pt>
                <c:pt idx="41">
                  <c:v>0.4</c:v>
                </c:pt>
                <c:pt idx="42">
                  <c:v>0.6</c:v>
                </c:pt>
                <c:pt idx="43">
                  <c:v>0.8</c:v>
                </c:pt>
                <c:pt idx="44">
                  <c:v>1</c:v>
                </c:pt>
                <c:pt idx="45">
                  <c:v>0.8</c:v>
                </c:pt>
                <c:pt idx="46">
                  <c:v>0.6</c:v>
                </c:pt>
                <c:pt idx="47">
                  <c:v>0.4</c:v>
                </c:pt>
                <c:pt idx="48">
                  <c:v>0.2</c:v>
                </c:pt>
                <c:pt idx="49">
                  <c:v>0</c:v>
                </c:pt>
                <c:pt idx="50">
                  <c:v>-0.2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25-4AFE-AD4D-A7E6962D1D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9296303"/>
        <c:axId val="969294863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Folha1!$I$69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Folha1!$G$70:$G$120</c15:sqref>
                        </c15:formulaRef>
                      </c:ext>
                    </c:extLst>
                    <c:numCache>
                      <c:formatCode>General</c:formatCode>
                      <c:ptCount val="51"/>
                      <c:pt idx="0">
                        <c:v>0</c:v>
                      </c:pt>
                      <c:pt idx="1">
                        <c:v>0.01</c:v>
                      </c:pt>
                      <c:pt idx="2">
                        <c:v>0.02</c:v>
                      </c:pt>
                      <c:pt idx="3">
                        <c:v>0.03</c:v>
                      </c:pt>
                      <c:pt idx="4">
                        <c:v>0.04</c:v>
                      </c:pt>
                      <c:pt idx="5">
                        <c:v>0.05</c:v>
                      </c:pt>
                      <c:pt idx="6">
                        <c:v>0.06</c:v>
                      </c:pt>
                      <c:pt idx="7">
                        <c:v>7.0000000000000007E-2</c:v>
                      </c:pt>
                      <c:pt idx="8">
                        <c:v>0.08</c:v>
                      </c:pt>
                      <c:pt idx="9">
                        <c:v>0.09</c:v>
                      </c:pt>
                      <c:pt idx="10">
                        <c:v>0.1</c:v>
                      </c:pt>
                      <c:pt idx="11">
                        <c:v>0.11</c:v>
                      </c:pt>
                      <c:pt idx="12">
                        <c:v>0.12</c:v>
                      </c:pt>
                      <c:pt idx="13">
                        <c:v>0.13</c:v>
                      </c:pt>
                      <c:pt idx="14">
                        <c:v>0.14000000000000001</c:v>
                      </c:pt>
                      <c:pt idx="15">
                        <c:v>0.15</c:v>
                      </c:pt>
                      <c:pt idx="16">
                        <c:v>0.16</c:v>
                      </c:pt>
                      <c:pt idx="17">
                        <c:v>0.17</c:v>
                      </c:pt>
                      <c:pt idx="18">
                        <c:v>0.18</c:v>
                      </c:pt>
                      <c:pt idx="19">
                        <c:v>0.19</c:v>
                      </c:pt>
                      <c:pt idx="20">
                        <c:v>0.2</c:v>
                      </c:pt>
                      <c:pt idx="21">
                        <c:v>0.21</c:v>
                      </c:pt>
                      <c:pt idx="22">
                        <c:v>0.22</c:v>
                      </c:pt>
                      <c:pt idx="23">
                        <c:v>0.23</c:v>
                      </c:pt>
                      <c:pt idx="24">
                        <c:v>0.24</c:v>
                      </c:pt>
                      <c:pt idx="25">
                        <c:v>0.25</c:v>
                      </c:pt>
                      <c:pt idx="26">
                        <c:v>0.26</c:v>
                      </c:pt>
                      <c:pt idx="27">
                        <c:v>0.27</c:v>
                      </c:pt>
                      <c:pt idx="28">
                        <c:v>0.28000000000000003</c:v>
                      </c:pt>
                      <c:pt idx="29">
                        <c:v>0.28999999999999998</c:v>
                      </c:pt>
                      <c:pt idx="30">
                        <c:v>0.3</c:v>
                      </c:pt>
                      <c:pt idx="31">
                        <c:v>0.31</c:v>
                      </c:pt>
                      <c:pt idx="32">
                        <c:v>0.32</c:v>
                      </c:pt>
                      <c:pt idx="33">
                        <c:v>0.33</c:v>
                      </c:pt>
                      <c:pt idx="34">
                        <c:v>0.34</c:v>
                      </c:pt>
                      <c:pt idx="35">
                        <c:v>0.35</c:v>
                      </c:pt>
                      <c:pt idx="36">
                        <c:v>0.36</c:v>
                      </c:pt>
                      <c:pt idx="37">
                        <c:v>0.37</c:v>
                      </c:pt>
                      <c:pt idx="38">
                        <c:v>0.38</c:v>
                      </c:pt>
                      <c:pt idx="39">
                        <c:v>0.39</c:v>
                      </c:pt>
                      <c:pt idx="40">
                        <c:v>0.4</c:v>
                      </c:pt>
                      <c:pt idx="41">
                        <c:v>0.41</c:v>
                      </c:pt>
                      <c:pt idx="42">
                        <c:v>0.42</c:v>
                      </c:pt>
                      <c:pt idx="43">
                        <c:v>0.43</c:v>
                      </c:pt>
                      <c:pt idx="44">
                        <c:v>0.44</c:v>
                      </c:pt>
                      <c:pt idx="45">
                        <c:v>0.45</c:v>
                      </c:pt>
                      <c:pt idx="46">
                        <c:v>0.46</c:v>
                      </c:pt>
                      <c:pt idx="47">
                        <c:v>0.47</c:v>
                      </c:pt>
                      <c:pt idx="48">
                        <c:v>0.48</c:v>
                      </c:pt>
                      <c:pt idx="49">
                        <c:v>0.49</c:v>
                      </c:pt>
                      <c:pt idx="50">
                        <c:v>0.5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Folha1!$I$70:$I$120</c15:sqref>
                        </c15:formulaRef>
                      </c:ext>
                    </c:extLst>
                    <c:numCache>
                      <c:formatCode>General</c:formatCode>
                      <c:ptCount val="51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9C25-4AFE-AD4D-A7E6962D1D3D}"/>
                  </c:ext>
                </c:extLst>
              </c15:ser>
            </c15:filteredLineSeries>
          </c:ext>
        </c:extLst>
      </c:lineChart>
      <c:catAx>
        <c:axId val="969296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969294863"/>
        <c:crosses val="autoZero"/>
        <c:auto val="1"/>
        <c:lblAlgn val="ctr"/>
        <c:lblOffset val="100"/>
        <c:noMultiLvlLbl val="0"/>
      </c:catAx>
      <c:valAx>
        <c:axId val="969294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969296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/>
              <a:t>Resposta da componente derivativa, </a:t>
            </a:r>
          </a:p>
          <a:p>
            <a:pPr>
              <a:defRPr/>
            </a:pPr>
            <a:r>
              <a:rPr lang="pt-PT" dirty="0" err="1"/>
              <a:t>Kd</a:t>
            </a:r>
            <a:r>
              <a:rPr lang="pt-PT" dirty="0"/>
              <a:t> =</a:t>
            </a:r>
            <a:r>
              <a:rPr lang="pt-PT" baseline="0" dirty="0"/>
              <a:t> 0,05, HW = 10ms</a:t>
            </a:r>
            <a:endParaRPr lang="pt-P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Folha1!$H$128</c:f>
              <c:strCache>
                <c:ptCount val="1"/>
                <c:pt idx="0">
                  <c:v>y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Folha1!$G$129:$G$179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Folha1!$H$129:$H$179</c:f>
              <c:numCache>
                <c:formatCode>General</c:formatCode>
                <c:ptCount val="51"/>
                <c:pt idx="0">
                  <c:v>1</c:v>
                </c:pt>
                <c:pt idx="1">
                  <c:v>1.2</c:v>
                </c:pt>
                <c:pt idx="2">
                  <c:v>1.4</c:v>
                </c:pt>
                <c:pt idx="3">
                  <c:v>1.6</c:v>
                </c:pt>
                <c:pt idx="4">
                  <c:v>1.8</c:v>
                </c:pt>
                <c:pt idx="5">
                  <c:v>2</c:v>
                </c:pt>
                <c:pt idx="6">
                  <c:v>1.8</c:v>
                </c:pt>
                <c:pt idx="7">
                  <c:v>1.6</c:v>
                </c:pt>
                <c:pt idx="8">
                  <c:v>1.4</c:v>
                </c:pt>
                <c:pt idx="9">
                  <c:v>1.2</c:v>
                </c:pt>
                <c:pt idx="10">
                  <c:v>1</c:v>
                </c:pt>
                <c:pt idx="11">
                  <c:v>0.8</c:v>
                </c:pt>
                <c:pt idx="12">
                  <c:v>0.6</c:v>
                </c:pt>
                <c:pt idx="13">
                  <c:v>0.4</c:v>
                </c:pt>
                <c:pt idx="14">
                  <c:v>0.2</c:v>
                </c:pt>
                <c:pt idx="15">
                  <c:v>0</c:v>
                </c:pt>
                <c:pt idx="16">
                  <c:v>0.2</c:v>
                </c:pt>
                <c:pt idx="17">
                  <c:v>0.4</c:v>
                </c:pt>
                <c:pt idx="18">
                  <c:v>0.6</c:v>
                </c:pt>
                <c:pt idx="19">
                  <c:v>0.8</c:v>
                </c:pt>
                <c:pt idx="20">
                  <c:v>1</c:v>
                </c:pt>
                <c:pt idx="21">
                  <c:v>1.2</c:v>
                </c:pt>
                <c:pt idx="22">
                  <c:v>1.4</c:v>
                </c:pt>
                <c:pt idx="23">
                  <c:v>1.6</c:v>
                </c:pt>
                <c:pt idx="24">
                  <c:v>1.8</c:v>
                </c:pt>
                <c:pt idx="25">
                  <c:v>2</c:v>
                </c:pt>
                <c:pt idx="26">
                  <c:v>1.8</c:v>
                </c:pt>
                <c:pt idx="27">
                  <c:v>1.6</c:v>
                </c:pt>
                <c:pt idx="28">
                  <c:v>1.4</c:v>
                </c:pt>
                <c:pt idx="29">
                  <c:v>1.2</c:v>
                </c:pt>
                <c:pt idx="30">
                  <c:v>1</c:v>
                </c:pt>
                <c:pt idx="31">
                  <c:v>0.8</c:v>
                </c:pt>
                <c:pt idx="32">
                  <c:v>0.6</c:v>
                </c:pt>
                <c:pt idx="33">
                  <c:v>0.4</c:v>
                </c:pt>
                <c:pt idx="34">
                  <c:v>0.2</c:v>
                </c:pt>
                <c:pt idx="35">
                  <c:v>0</c:v>
                </c:pt>
                <c:pt idx="36">
                  <c:v>0.2</c:v>
                </c:pt>
                <c:pt idx="37">
                  <c:v>0.4</c:v>
                </c:pt>
                <c:pt idx="38">
                  <c:v>0.6</c:v>
                </c:pt>
                <c:pt idx="39">
                  <c:v>0.8</c:v>
                </c:pt>
                <c:pt idx="40">
                  <c:v>1</c:v>
                </c:pt>
                <c:pt idx="41">
                  <c:v>1.2</c:v>
                </c:pt>
                <c:pt idx="42">
                  <c:v>1.4</c:v>
                </c:pt>
                <c:pt idx="43">
                  <c:v>1.6</c:v>
                </c:pt>
                <c:pt idx="44">
                  <c:v>1.8</c:v>
                </c:pt>
                <c:pt idx="45">
                  <c:v>2</c:v>
                </c:pt>
                <c:pt idx="46">
                  <c:v>1.8</c:v>
                </c:pt>
                <c:pt idx="47">
                  <c:v>1.6</c:v>
                </c:pt>
                <c:pt idx="48">
                  <c:v>1.4</c:v>
                </c:pt>
                <c:pt idx="49">
                  <c:v>1.2</c:v>
                </c:pt>
                <c:pt idx="5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AC-4F27-B343-D57C3D31D793}"/>
            </c:ext>
          </c:extLst>
        </c:ser>
        <c:ser>
          <c:idx val="2"/>
          <c:order val="2"/>
          <c:tx>
            <c:strRef>
              <c:f>Folha1!$J$128</c:f>
              <c:strCache>
                <c:ptCount val="1"/>
                <c:pt idx="0">
                  <c:v>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Folha1!$G$129:$G$179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Folha1!$J$129:$J$179</c:f>
              <c:numCache>
                <c:formatCode>General</c:formatCode>
                <c:ptCount val="51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AC-4F27-B343-D57C3D31D7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918399"/>
        <c:axId val="136924159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Folha1!$I$128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Folha1!$G$129:$G$179</c15:sqref>
                        </c15:formulaRef>
                      </c:ext>
                    </c:extLst>
                    <c:numCache>
                      <c:formatCode>General</c:formatCode>
                      <c:ptCount val="51"/>
                      <c:pt idx="0">
                        <c:v>0</c:v>
                      </c:pt>
                      <c:pt idx="1">
                        <c:v>0.01</c:v>
                      </c:pt>
                      <c:pt idx="2">
                        <c:v>0.02</c:v>
                      </c:pt>
                      <c:pt idx="3">
                        <c:v>0.03</c:v>
                      </c:pt>
                      <c:pt idx="4">
                        <c:v>0.04</c:v>
                      </c:pt>
                      <c:pt idx="5">
                        <c:v>0.05</c:v>
                      </c:pt>
                      <c:pt idx="6">
                        <c:v>0.06</c:v>
                      </c:pt>
                      <c:pt idx="7">
                        <c:v>7.0000000000000007E-2</c:v>
                      </c:pt>
                      <c:pt idx="8">
                        <c:v>0.08</c:v>
                      </c:pt>
                      <c:pt idx="9">
                        <c:v>0.09</c:v>
                      </c:pt>
                      <c:pt idx="10">
                        <c:v>0.1</c:v>
                      </c:pt>
                      <c:pt idx="11">
                        <c:v>0.11</c:v>
                      </c:pt>
                      <c:pt idx="12">
                        <c:v>0.12</c:v>
                      </c:pt>
                      <c:pt idx="13">
                        <c:v>0.13</c:v>
                      </c:pt>
                      <c:pt idx="14">
                        <c:v>0.14000000000000001</c:v>
                      </c:pt>
                      <c:pt idx="15">
                        <c:v>0.15</c:v>
                      </c:pt>
                      <c:pt idx="16">
                        <c:v>0.16</c:v>
                      </c:pt>
                      <c:pt idx="17">
                        <c:v>0.17</c:v>
                      </c:pt>
                      <c:pt idx="18">
                        <c:v>0.18</c:v>
                      </c:pt>
                      <c:pt idx="19">
                        <c:v>0.19</c:v>
                      </c:pt>
                      <c:pt idx="20">
                        <c:v>0.2</c:v>
                      </c:pt>
                      <c:pt idx="21">
                        <c:v>0.21</c:v>
                      </c:pt>
                      <c:pt idx="22">
                        <c:v>0.22</c:v>
                      </c:pt>
                      <c:pt idx="23">
                        <c:v>0.23</c:v>
                      </c:pt>
                      <c:pt idx="24">
                        <c:v>0.24</c:v>
                      </c:pt>
                      <c:pt idx="25">
                        <c:v>0.25</c:v>
                      </c:pt>
                      <c:pt idx="26">
                        <c:v>0.26</c:v>
                      </c:pt>
                      <c:pt idx="27">
                        <c:v>0.27</c:v>
                      </c:pt>
                      <c:pt idx="28">
                        <c:v>0.28000000000000003</c:v>
                      </c:pt>
                      <c:pt idx="29">
                        <c:v>0.28999999999999998</c:v>
                      </c:pt>
                      <c:pt idx="30">
                        <c:v>0.3</c:v>
                      </c:pt>
                      <c:pt idx="31">
                        <c:v>0.31</c:v>
                      </c:pt>
                      <c:pt idx="32">
                        <c:v>0.32</c:v>
                      </c:pt>
                      <c:pt idx="33">
                        <c:v>0.33</c:v>
                      </c:pt>
                      <c:pt idx="34">
                        <c:v>0.34</c:v>
                      </c:pt>
                      <c:pt idx="35">
                        <c:v>0.35</c:v>
                      </c:pt>
                      <c:pt idx="36">
                        <c:v>0.36</c:v>
                      </c:pt>
                      <c:pt idx="37">
                        <c:v>0.37</c:v>
                      </c:pt>
                      <c:pt idx="38">
                        <c:v>0.38</c:v>
                      </c:pt>
                      <c:pt idx="39">
                        <c:v>0.39</c:v>
                      </c:pt>
                      <c:pt idx="40">
                        <c:v>0.4</c:v>
                      </c:pt>
                      <c:pt idx="41">
                        <c:v>0.41</c:v>
                      </c:pt>
                      <c:pt idx="42">
                        <c:v>0.42</c:v>
                      </c:pt>
                      <c:pt idx="43">
                        <c:v>0.43</c:v>
                      </c:pt>
                      <c:pt idx="44">
                        <c:v>0.44</c:v>
                      </c:pt>
                      <c:pt idx="45">
                        <c:v>0.45</c:v>
                      </c:pt>
                      <c:pt idx="46">
                        <c:v>0.46</c:v>
                      </c:pt>
                      <c:pt idx="47">
                        <c:v>0.47</c:v>
                      </c:pt>
                      <c:pt idx="48">
                        <c:v>0.48</c:v>
                      </c:pt>
                      <c:pt idx="49">
                        <c:v>0.49</c:v>
                      </c:pt>
                      <c:pt idx="50">
                        <c:v>0.5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Folha1!$I$129:$I$179</c15:sqref>
                        </c15:formulaRef>
                      </c:ext>
                    </c:extLst>
                    <c:numCache>
                      <c:formatCode>General</c:formatCode>
                      <c:ptCount val="51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6CAC-4F27-B343-D57C3D31D793}"/>
                  </c:ext>
                </c:extLst>
              </c15:ser>
            </c15:filteredLineSeries>
          </c:ext>
        </c:extLst>
      </c:lineChart>
      <c:catAx>
        <c:axId val="136918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6924159"/>
        <c:crosses val="autoZero"/>
        <c:auto val="1"/>
        <c:lblAlgn val="ctr"/>
        <c:lblOffset val="100"/>
        <c:noMultiLvlLbl val="0"/>
      </c:catAx>
      <c:valAx>
        <c:axId val="136924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6918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Resposta da componente derivativa com filtro passa-baixo, </a:t>
            </a:r>
          </a:p>
          <a:p>
            <a:pPr algn="ctr">
              <a:defRPr/>
            </a:pPr>
            <a:r>
              <a:rPr lang="pt-P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Kd = 0,05, HW = 10ms, a=1/3</a:t>
            </a:r>
          </a:p>
        </c:rich>
      </c:tx>
      <c:layout>
        <c:manualLayout>
          <c:xMode val="edge"/>
          <c:yMode val="edge"/>
          <c:x val="0.14638184086315373"/>
          <c:y val="2.24586258554614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Folha1!$H$188</c:f>
              <c:strCache>
                <c:ptCount val="1"/>
                <c:pt idx="0">
                  <c:v>y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Folha1!$G$189:$G$239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Folha1!$H$189:$H$239</c:f>
              <c:numCache>
                <c:formatCode>General</c:formatCode>
                <c:ptCount val="51"/>
                <c:pt idx="0">
                  <c:v>1</c:v>
                </c:pt>
                <c:pt idx="1">
                  <c:v>1.2</c:v>
                </c:pt>
                <c:pt idx="2">
                  <c:v>1.4</c:v>
                </c:pt>
                <c:pt idx="3">
                  <c:v>1.6</c:v>
                </c:pt>
                <c:pt idx="4">
                  <c:v>1.8</c:v>
                </c:pt>
                <c:pt idx="5">
                  <c:v>2</c:v>
                </c:pt>
                <c:pt idx="6">
                  <c:v>1.8</c:v>
                </c:pt>
                <c:pt idx="7">
                  <c:v>1.6</c:v>
                </c:pt>
                <c:pt idx="8">
                  <c:v>1.4</c:v>
                </c:pt>
                <c:pt idx="9">
                  <c:v>1.2</c:v>
                </c:pt>
                <c:pt idx="10">
                  <c:v>1</c:v>
                </c:pt>
                <c:pt idx="11">
                  <c:v>0.8</c:v>
                </c:pt>
                <c:pt idx="12">
                  <c:v>0.6</c:v>
                </c:pt>
                <c:pt idx="13">
                  <c:v>0.4</c:v>
                </c:pt>
                <c:pt idx="14">
                  <c:v>0.2</c:v>
                </c:pt>
                <c:pt idx="15">
                  <c:v>0</c:v>
                </c:pt>
                <c:pt idx="16">
                  <c:v>0.2</c:v>
                </c:pt>
                <c:pt idx="17">
                  <c:v>0.4</c:v>
                </c:pt>
                <c:pt idx="18">
                  <c:v>0.6</c:v>
                </c:pt>
                <c:pt idx="19">
                  <c:v>0.8</c:v>
                </c:pt>
                <c:pt idx="20">
                  <c:v>1</c:v>
                </c:pt>
                <c:pt idx="21">
                  <c:v>1.2</c:v>
                </c:pt>
                <c:pt idx="22">
                  <c:v>1.4</c:v>
                </c:pt>
                <c:pt idx="23">
                  <c:v>1.6</c:v>
                </c:pt>
                <c:pt idx="24">
                  <c:v>1.8</c:v>
                </c:pt>
                <c:pt idx="25">
                  <c:v>2</c:v>
                </c:pt>
                <c:pt idx="26">
                  <c:v>1.8</c:v>
                </c:pt>
                <c:pt idx="27">
                  <c:v>1.6</c:v>
                </c:pt>
                <c:pt idx="28">
                  <c:v>1.4</c:v>
                </c:pt>
                <c:pt idx="29">
                  <c:v>1.2</c:v>
                </c:pt>
                <c:pt idx="30">
                  <c:v>1</c:v>
                </c:pt>
                <c:pt idx="31">
                  <c:v>0.8</c:v>
                </c:pt>
                <c:pt idx="32">
                  <c:v>0.6</c:v>
                </c:pt>
                <c:pt idx="33">
                  <c:v>0.4</c:v>
                </c:pt>
                <c:pt idx="34">
                  <c:v>0.2</c:v>
                </c:pt>
                <c:pt idx="35">
                  <c:v>0</c:v>
                </c:pt>
                <c:pt idx="36">
                  <c:v>0.2</c:v>
                </c:pt>
                <c:pt idx="37">
                  <c:v>0.4</c:v>
                </c:pt>
                <c:pt idx="38">
                  <c:v>0.6</c:v>
                </c:pt>
                <c:pt idx="39">
                  <c:v>0.8</c:v>
                </c:pt>
                <c:pt idx="40">
                  <c:v>1</c:v>
                </c:pt>
                <c:pt idx="41">
                  <c:v>1.2</c:v>
                </c:pt>
                <c:pt idx="42">
                  <c:v>1.4</c:v>
                </c:pt>
                <c:pt idx="43">
                  <c:v>1.6</c:v>
                </c:pt>
                <c:pt idx="44">
                  <c:v>1.8</c:v>
                </c:pt>
                <c:pt idx="45">
                  <c:v>2</c:v>
                </c:pt>
                <c:pt idx="46">
                  <c:v>1.8</c:v>
                </c:pt>
                <c:pt idx="47">
                  <c:v>1.6</c:v>
                </c:pt>
                <c:pt idx="48">
                  <c:v>1.4</c:v>
                </c:pt>
                <c:pt idx="49">
                  <c:v>1.2</c:v>
                </c:pt>
                <c:pt idx="5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05-425B-9F3B-C152104D3C51}"/>
            </c:ext>
          </c:extLst>
        </c:ser>
        <c:ser>
          <c:idx val="2"/>
          <c:order val="2"/>
          <c:tx>
            <c:strRef>
              <c:f>Folha1!$J$188</c:f>
              <c:strCache>
                <c:ptCount val="1"/>
                <c:pt idx="0">
                  <c:v>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Folha1!$G$189:$G$239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Folha1!$J$189:$J$239</c:f>
              <c:numCache>
                <c:formatCode>General</c:formatCode>
                <c:ptCount val="51"/>
                <c:pt idx="0">
                  <c:v>-0.99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0.34</c:v>
                </c:pt>
                <c:pt idx="7">
                  <c:v>0.78</c:v>
                </c:pt>
                <c:pt idx="8">
                  <c:v>0.93</c:v>
                </c:pt>
                <c:pt idx="9">
                  <c:v>0.98</c:v>
                </c:pt>
                <c:pt idx="10">
                  <c:v>0.99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-0.34</c:v>
                </c:pt>
                <c:pt idx="17">
                  <c:v>-0.78</c:v>
                </c:pt>
                <c:pt idx="18">
                  <c:v>-0.93</c:v>
                </c:pt>
                <c:pt idx="19">
                  <c:v>-0.98</c:v>
                </c:pt>
                <c:pt idx="20">
                  <c:v>-0.99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0.34</c:v>
                </c:pt>
                <c:pt idx="27">
                  <c:v>0.78</c:v>
                </c:pt>
                <c:pt idx="28">
                  <c:v>0.93</c:v>
                </c:pt>
                <c:pt idx="29">
                  <c:v>0.98</c:v>
                </c:pt>
                <c:pt idx="30">
                  <c:v>0.99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-0.34</c:v>
                </c:pt>
                <c:pt idx="37">
                  <c:v>-0.78</c:v>
                </c:pt>
                <c:pt idx="38">
                  <c:v>-0.93</c:v>
                </c:pt>
                <c:pt idx="39">
                  <c:v>-0.98</c:v>
                </c:pt>
                <c:pt idx="40">
                  <c:v>-0.99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0.34</c:v>
                </c:pt>
                <c:pt idx="47">
                  <c:v>0.78</c:v>
                </c:pt>
                <c:pt idx="48">
                  <c:v>0.93</c:v>
                </c:pt>
                <c:pt idx="49">
                  <c:v>0.98</c:v>
                </c:pt>
                <c:pt idx="50">
                  <c:v>0.99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05-425B-9F3B-C152104D3C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960639"/>
        <c:axId val="136959199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Folha1!$I$188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Folha1!$G$189:$G$239</c15:sqref>
                        </c15:formulaRef>
                      </c:ext>
                    </c:extLst>
                    <c:numCache>
                      <c:formatCode>General</c:formatCode>
                      <c:ptCount val="51"/>
                      <c:pt idx="0">
                        <c:v>0</c:v>
                      </c:pt>
                      <c:pt idx="1">
                        <c:v>0.01</c:v>
                      </c:pt>
                      <c:pt idx="2">
                        <c:v>0.02</c:v>
                      </c:pt>
                      <c:pt idx="3">
                        <c:v>0.03</c:v>
                      </c:pt>
                      <c:pt idx="4">
                        <c:v>0.04</c:v>
                      </c:pt>
                      <c:pt idx="5">
                        <c:v>0.05</c:v>
                      </c:pt>
                      <c:pt idx="6">
                        <c:v>0.06</c:v>
                      </c:pt>
                      <c:pt idx="7">
                        <c:v>7.0000000000000007E-2</c:v>
                      </c:pt>
                      <c:pt idx="8">
                        <c:v>0.08</c:v>
                      </c:pt>
                      <c:pt idx="9">
                        <c:v>0.09</c:v>
                      </c:pt>
                      <c:pt idx="10">
                        <c:v>0.1</c:v>
                      </c:pt>
                      <c:pt idx="11">
                        <c:v>0.11</c:v>
                      </c:pt>
                      <c:pt idx="12">
                        <c:v>0.12</c:v>
                      </c:pt>
                      <c:pt idx="13">
                        <c:v>0.13</c:v>
                      </c:pt>
                      <c:pt idx="14">
                        <c:v>0.14000000000000001</c:v>
                      </c:pt>
                      <c:pt idx="15">
                        <c:v>0.15</c:v>
                      </c:pt>
                      <c:pt idx="16">
                        <c:v>0.16</c:v>
                      </c:pt>
                      <c:pt idx="17">
                        <c:v>0.17</c:v>
                      </c:pt>
                      <c:pt idx="18">
                        <c:v>0.18</c:v>
                      </c:pt>
                      <c:pt idx="19">
                        <c:v>0.19</c:v>
                      </c:pt>
                      <c:pt idx="20">
                        <c:v>0.2</c:v>
                      </c:pt>
                      <c:pt idx="21">
                        <c:v>0.21</c:v>
                      </c:pt>
                      <c:pt idx="22">
                        <c:v>0.22</c:v>
                      </c:pt>
                      <c:pt idx="23">
                        <c:v>0.23</c:v>
                      </c:pt>
                      <c:pt idx="24">
                        <c:v>0.24</c:v>
                      </c:pt>
                      <c:pt idx="25">
                        <c:v>0.25</c:v>
                      </c:pt>
                      <c:pt idx="26">
                        <c:v>0.26</c:v>
                      </c:pt>
                      <c:pt idx="27">
                        <c:v>0.27</c:v>
                      </c:pt>
                      <c:pt idx="28">
                        <c:v>0.28000000000000003</c:v>
                      </c:pt>
                      <c:pt idx="29">
                        <c:v>0.28999999999999998</c:v>
                      </c:pt>
                      <c:pt idx="30">
                        <c:v>0.3</c:v>
                      </c:pt>
                      <c:pt idx="31">
                        <c:v>0.31</c:v>
                      </c:pt>
                      <c:pt idx="32">
                        <c:v>0.32</c:v>
                      </c:pt>
                      <c:pt idx="33">
                        <c:v>0.33</c:v>
                      </c:pt>
                      <c:pt idx="34">
                        <c:v>0.34</c:v>
                      </c:pt>
                      <c:pt idx="35">
                        <c:v>0.35</c:v>
                      </c:pt>
                      <c:pt idx="36">
                        <c:v>0.36</c:v>
                      </c:pt>
                      <c:pt idx="37">
                        <c:v>0.37</c:v>
                      </c:pt>
                      <c:pt idx="38">
                        <c:v>0.38</c:v>
                      </c:pt>
                      <c:pt idx="39">
                        <c:v>0.39</c:v>
                      </c:pt>
                      <c:pt idx="40">
                        <c:v>0.4</c:v>
                      </c:pt>
                      <c:pt idx="41">
                        <c:v>0.41</c:v>
                      </c:pt>
                      <c:pt idx="42">
                        <c:v>0.42</c:v>
                      </c:pt>
                      <c:pt idx="43">
                        <c:v>0.43</c:v>
                      </c:pt>
                      <c:pt idx="44">
                        <c:v>0.44</c:v>
                      </c:pt>
                      <c:pt idx="45">
                        <c:v>0.45</c:v>
                      </c:pt>
                      <c:pt idx="46">
                        <c:v>0.46</c:v>
                      </c:pt>
                      <c:pt idx="47">
                        <c:v>0.47</c:v>
                      </c:pt>
                      <c:pt idx="48">
                        <c:v>0.48</c:v>
                      </c:pt>
                      <c:pt idx="49">
                        <c:v>0.49</c:v>
                      </c:pt>
                      <c:pt idx="50">
                        <c:v>0.5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Folha1!$I$189:$I$239</c15:sqref>
                        </c15:formulaRef>
                      </c:ext>
                    </c:extLst>
                    <c:numCache>
                      <c:formatCode>General</c:formatCode>
                      <c:ptCount val="51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9505-425B-9F3B-C152104D3C51}"/>
                  </c:ext>
                </c:extLst>
              </c15:ser>
            </c15:filteredLineSeries>
          </c:ext>
        </c:extLst>
      </c:lineChart>
      <c:catAx>
        <c:axId val="136960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6959199"/>
        <c:crosses val="autoZero"/>
        <c:auto val="1"/>
        <c:lblAlgn val="ctr"/>
        <c:lblOffset val="100"/>
        <c:noMultiLvlLbl val="0"/>
      </c:catAx>
      <c:valAx>
        <c:axId val="136959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6960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/>
              <a:t>Resposta da componente derivativa, </a:t>
            </a:r>
          </a:p>
          <a:p>
            <a:pPr>
              <a:defRPr/>
            </a:pPr>
            <a:r>
              <a:rPr lang="pt-PT" dirty="0"/>
              <a:t> </a:t>
            </a:r>
            <a:r>
              <a:rPr lang="pt-PT" dirty="0" err="1"/>
              <a:t>Kd</a:t>
            </a:r>
            <a:r>
              <a:rPr lang="pt-PT" dirty="0"/>
              <a:t> =</a:t>
            </a:r>
            <a:r>
              <a:rPr lang="pt-PT" baseline="0" dirty="0"/>
              <a:t> 0,05, HW = 10ms, a = 0</a:t>
            </a:r>
            <a:endParaRPr lang="pt-P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Folha1!$H$128</c:f>
              <c:strCache>
                <c:ptCount val="1"/>
                <c:pt idx="0">
                  <c:v>y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Folha1!$G$129:$G$179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Folha1!$H$129:$H$179</c:f>
              <c:numCache>
                <c:formatCode>General</c:formatCode>
                <c:ptCount val="51"/>
                <c:pt idx="0">
                  <c:v>1</c:v>
                </c:pt>
                <c:pt idx="1">
                  <c:v>1.2</c:v>
                </c:pt>
                <c:pt idx="2">
                  <c:v>1.4</c:v>
                </c:pt>
                <c:pt idx="3">
                  <c:v>1.6</c:v>
                </c:pt>
                <c:pt idx="4">
                  <c:v>1.8</c:v>
                </c:pt>
                <c:pt idx="5">
                  <c:v>2</c:v>
                </c:pt>
                <c:pt idx="6">
                  <c:v>1.8</c:v>
                </c:pt>
                <c:pt idx="7">
                  <c:v>1.6</c:v>
                </c:pt>
                <c:pt idx="8">
                  <c:v>1.4</c:v>
                </c:pt>
                <c:pt idx="9">
                  <c:v>1.2</c:v>
                </c:pt>
                <c:pt idx="10">
                  <c:v>1</c:v>
                </c:pt>
                <c:pt idx="11">
                  <c:v>0.8</c:v>
                </c:pt>
                <c:pt idx="12">
                  <c:v>0.6</c:v>
                </c:pt>
                <c:pt idx="13">
                  <c:v>0.4</c:v>
                </c:pt>
                <c:pt idx="14">
                  <c:v>0.2</c:v>
                </c:pt>
                <c:pt idx="15">
                  <c:v>0</c:v>
                </c:pt>
                <c:pt idx="16">
                  <c:v>0.2</c:v>
                </c:pt>
                <c:pt idx="17">
                  <c:v>0.4</c:v>
                </c:pt>
                <c:pt idx="18">
                  <c:v>0.6</c:v>
                </c:pt>
                <c:pt idx="19">
                  <c:v>0.8</c:v>
                </c:pt>
                <c:pt idx="20">
                  <c:v>1</c:v>
                </c:pt>
                <c:pt idx="21">
                  <c:v>1.2</c:v>
                </c:pt>
                <c:pt idx="22">
                  <c:v>1.4</c:v>
                </c:pt>
                <c:pt idx="23">
                  <c:v>1.6</c:v>
                </c:pt>
                <c:pt idx="24">
                  <c:v>1.8</c:v>
                </c:pt>
                <c:pt idx="25">
                  <c:v>2</c:v>
                </c:pt>
                <c:pt idx="26">
                  <c:v>1.8</c:v>
                </c:pt>
                <c:pt idx="27">
                  <c:v>1.6</c:v>
                </c:pt>
                <c:pt idx="28">
                  <c:v>1.4</c:v>
                </c:pt>
                <c:pt idx="29">
                  <c:v>1.2</c:v>
                </c:pt>
                <c:pt idx="30">
                  <c:v>1</c:v>
                </c:pt>
                <c:pt idx="31">
                  <c:v>0.8</c:v>
                </c:pt>
                <c:pt idx="32">
                  <c:v>0.6</c:v>
                </c:pt>
                <c:pt idx="33">
                  <c:v>0.4</c:v>
                </c:pt>
                <c:pt idx="34">
                  <c:v>0.2</c:v>
                </c:pt>
                <c:pt idx="35">
                  <c:v>0</c:v>
                </c:pt>
                <c:pt idx="36">
                  <c:v>0.2</c:v>
                </c:pt>
                <c:pt idx="37">
                  <c:v>0.4</c:v>
                </c:pt>
                <c:pt idx="38">
                  <c:v>0.6</c:v>
                </c:pt>
                <c:pt idx="39">
                  <c:v>0.8</c:v>
                </c:pt>
                <c:pt idx="40">
                  <c:v>1</c:v>
                </c:pt>
                <c:pt idx="41">
                  <c:v>1.2</c:v>
                </c:pt>
                <c:pt idx="42">
                  <c:v>1.4</c:v>
                </c:pt>
                <c:pt idx="43">
                  <c:v>1.6</c:v>
                </c:pt>
                <c:pt idx="44">
                  <c:v>1.8</c:v>
                </c:pt>
                <c:pt idx="45">
                  <c:v>2</c:v>
                </c:pt>
                <c:pt idx="46">
                  <c:v>1.8</c:v>
                </c:pt>
                <c:pt idx="47">
                  <c:v>1.6</c:v>
                </c:pt>
                <c:pt idx="48">
                  <c:v>1.4</c:v>
                </c:pt>
                <c:pt idx="49">
                  <c:v>1.2</c:v>
                </c:pt>
                <c:pt idx="5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9C-4AC9-B984-63D6829C7CCF}"/>
            </c:ext>
          </c:extLst>
        </c:ser>
        <c:ser>
          <c:idx val="2"/>
          <c:order val="2"/>
          <c:tx>
            <c:strRef>
              <c:f>Folha1!$J$128</c:f>
              <c:strCache>
                <c:ptCount val="1"/>
                <c:pt idx="0">
                  <c:v>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Folha1!$G$129:$G$179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Folha1!$J$129:$J$179</c:f>
              <c:numCache>
                <c:formatCode>General</c:formatCode>
                <c:ptCount val="51"/>
                <c:pt idx="0">
                  <c:v>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-1</c:v>
                </c:pt>
                <c:pt idx="17">
                  <c:v>-1</c:v>
                </c:pt>
                <c:pt idx="18">
                  <c:v>-1</c:v>
                </c:pt>
                <c:pt idx="19">
                  <c:v>-1</c:v>
                </c:pt>
                <c:pt idx="20">
                  <c:v>-1</c:v>
                </c:pt>
                <c:pt idx="21">
                  <c:v>-1</c:v>
                </c:pt>
                <c:pt idx="22">
                  <c:v>-1</c:v>
                </c:pt>
                <c:pt idx="23">
                  <c:v>-1</c:v>
                </c:pt>
                <c:pt idx="24">
                  <c:v>-1</c:v>
                </c:pt>
                <c:pt idx="25">
                  <c:v>-1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-1</c:v>
                </c:pt>
                <c:pt idx="37">
                  <c:v>-1</c:v>
                </c:pt>
                <c:pt idx="38">
                  <c:v>-1</c:v>
                </c:pt>
                <c:pt idx="39">
                  <c:v>-1</c:v>
                </c:pt>
                <c:pt idx="40">
                  <c:v>-1</c:v>
                </c:pt>
                <c:pt idx="41">
                  <c:v>-1</c:v>
                </c:pt>
                <c:pt idx="42">
                  <c:v>-1</c:v>
                </c:pt>
                <c:pt idx="43">
                  <c:v>-1</c:v>
                </c:pt>
                <c:pt idx="44">
                  <c:v>-1</c:v>
                </c:pt>
                <c:pt idx="45">
                  <c:v>-1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9C-4AC9-B984-63D6829C7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918399"/>
        <c:axId val="136924159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Folha1!$I$128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Folha1!$G$129:$G$179</c15:sqref>
                        </c15:formulaRef>
                      </c:ext>
                    </c:extLst>
                    <c:numCache>
                      <c:formatCode>General</c:formatCode>
                      <c:ptCount val="51"/>
                      <c:pt idx="0">
                        <c:v>0</c:v>
                      </c:pt>
                      <c:pt idx="1">
                        <c:v>0.01</c:v>
                      </c:pt>
                      <c:pt idx="2">
                        <c:v>0.02</c:v>
                      </c:pt>
                      <c:pt idx="3">
                        <c:v>0.03</c:v>
                      </c:pt>
                      <c:pt idx="4">
                        <c:v>0.04</c:v>
                      </c:pt>
                      <c:pt idx="5">
                        <c:v>0.05</c:v>
                      </c:pt>
                      <c:pt idx="6">
                        <c:v>0.06</c:v>
                      </c:pt>
                      <c:pt idx="7">
                        <c:v>7.0000000000000007E-2</c:v>
                      </c:pt>
                      <c:pt idx="8">
                        <c:v>0.08</c:v>
                      </c:pt>
                      <c:pt idx="9">
                        <c:v>0.09</c:v>
                      </c:pt>
                      <c:pt idx="10">
                        <c:v>0.1</c:v>
                      </c:pt>
                      <c:pt idx="11">
                        <c:v>0.11</c:v>
                      </c:pt>
                      <c:pt idx="12">
                        <c:v>0.12</c:v>
                      </c:pt>
                      <c:pt idx="13">
                        <c:v>0.13</c:v>
                      </c:pt>
                      <c:pt idx="14">
                        <c:v>0.14000000000000001</c:v>
                      </c:pt>
                      <c:pt idx="15">
                        <c:v>0.15</c:v>
                      </c:pt>
                      <c:pt idx="16">
                        <c:v>0.16</c:v>
                      </c:pt>
                      <c:pt idx="17">
                        <c:v>0.17</c:v>
                      </c:pt>
                      <c:pt idx="18">
                        <c:v>0.18</c:v>
                      </c:pt>
                      <c:pt idx="19">
                        <c:v>0.19</c:v>
                      </c:pt>
                      <c:pt idx="20">
                        <c:v>0.2</c:v>
                      </c:pt>
                      <c:pt idx="21">
                        <c:v>0.21</c:v>
                      </c:pt>
                      <c:pt idx="22">
                        <c:v>0.22</c:v>
                      </c:pt>
                      <c:pt idx="23">
                        <c:v>0.23</c:v>
                      </c:pt>
                      <c:pt idx="24">
                        <c:v>0.24</c:v>
                      </c:pt>
                      <c:pt idx="25">
                        <c:v>0.25</c:v>
                      </c:pt>
                      <c:pt idx="26">
                        <c:v>0.26</c:v>
                      </c:pt>
                      <c:pt idx="27">
                        <c:v>0.27</c:v>
                      </c:pt>
                      <c:pt idx="28">
                        <c:v>0.28000000000000003</c:v>
                      </c:pt>
                      <c:pt idx="29">
                        <c:v>0.28999999999999998</c:v>
                      </c:pt>
                      <c:pt idx="30">
                        <c:v>0.3</c:v>
                      </c:pt>
                      <c:pt idx="31">
                        <c:v>0.31</c:v>
                      </c:pt>
                      <c:pt idx="32">
                        <c:v>0.32</c:v>
                      </c:pt>
                      <c:pt idx="33">
                        <c:v>0.33</c:v>
                      </c:pt>
                      <c:pt idx="34">
                        <c:v>0.34</c:v>
                      </c:pt>
                      <c:pt idx="35">
                        <c:v>0.35</c:v>
                      </c:pt>
                      <c:pt idx="36">
                        <c:v>0.36</c:v>
                      </c:pt>
                      <c:pt idx="37">
                        <c:v>0.37</c:v>
                      </c:pt>
                      <c:pt idx="38">
                        <c:v>0.38</c:v>
                      </c:pt>
                      <c:pt idx="39">
                        <c:v>0.39</c:v>
                      </c:pt>
                      <c:pt idx="40">
                        <c:v>0.4</c:v>
                      </c:pt>
                      <c:pt idx="41">
                        <c:v>0.41</c:v>
                      </c:pt>
                      <c:pt idx="42">
                        <c:v>0.42</c:v>
                      </c:pt>
                      <c:pt idx="43">
                        <c:v>0.43</c:v>
                      </c:pt>
                      <c:pt idx="44">
                        <c:v>0.44</c:v>
                      </c:pt>
                      <c:pt idx="45">
                        <c:v>0.45</c:v>
                      </c:pt>
                      <c:pt idx="46">
                        <c:v>0.46</c:v>
                      </c:pt>
                      <c:pt idx="47">
                        <c:v>0.47</c:v>
                      </c:pt>
                      <c:pt idx="48">
                        <c:v>0.48</c:v>
                      </c:pt>
                      <c:pt idx="49">
                        <c:v>0.49</c:v>
                      </c:pt>
                      <c:pt idx="50">
                        <c:v>0.5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Folha1!$I$129:$I$179</c15:sqref>
                        </c15:formulaRef>
                      </c:ext>
                    </c:extLst>
                    <c:numCache>
                      <c:formatCode>General</c:formatCode>
                      <c:ptCount val="51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5B9C-4AC9-B984-63D6829C7CCF}"/>
                  </c:ext>
                </c:extLst>
              </c15:ser>
            </c15:filteredLineSeries>
          </c:ext>
        </c:extLst>
      </c:lineChart>
      <c:catAx>
        <c:axId val="136918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6924159"/>
        <c:crosses val="autoZero"/>
        <c:auto val="1"/>
        <c:lblAlgn val="ctr"/>
        <c:lblOffset val="100"/>
        <c:noMultiLvlLbl val="0"/>
      </c:catAx>
      <c:valAx>
        <c:axId val="136924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6918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Resposta da componente derivativa com filtro passa-baixo, </a:t>
            </a:r>
          </a:p>
          <a:p>
            <a:pPr>
              <a:defRPr/>
            </a:pPr>
            <a:r>
              <a:rPr lang="pt-P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Kd = 0,05, HW = 10ms, a=2/3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Folha1!$H$308</c:f>
              <c:strCache>
                <c:ptCount val="1"/>
                <c:pt idx="0">
                  <c:v>y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Folha1!$G$309:$G$359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Folha1!$H$309:$H$359</c:f>
              <c:numCache>
                <c:formatCode>General</c:formatCode>
                <c:ptCount val="51"/>
                <c:pt idx="0">
                  <c:v>1</c:v>
                </c:pt>
                <c:pt idx="1">
                  <c:v>1.2</c:v>
                </c:pt>
                <c:pt idx="2">
                  <c:v>1.4</c:v>
                </c:pt>
                <c:pt idx="3">
                  <c:v>1.6</c:v>
                </c:pt>
                <c:pt idx="4">
                  <c:v>1.8</c:v>
                </c:pt>
                <c:pt idx="5">
                  <c:v>2</c:v>
                </c:pt>
                <c:pt idx="6">
                  <c:v>1.8</c:v>
                </c:pt>
                <c:pt idx="7">
                  <c:v>1.6</c:v>
                </c:pt>
                <c:pt idx="8">
                  <c:v>1.4</c:v>
                </c:pt>
                <c:pt idx="9">
                  <c:v>1.2</c:v>
                </c:pt>
                <c:pt idx="10">
                  <c:v>1</c:v>
                </c:pt>
                <c:pt idx="11">
                  <c:v>0.8</c:v>
                </c:pt>
                <c:pt idx="12">
                  <c:v>0.6</c:v>
                </c:pt>
                <c:pt idx="13">
                  <c:v>0.4</c:v>
                </c:pt>
                <c:pt idx="14">
                  <c:v>0.2</c:v>
                </c:pt>
                <c:pt idx="15">
                  <c:v>0</c:v>
                </c:pt>
                <c:pt idx="16">
                  <c:v>0.2</c:v>
                </c:pt>
                <c:pt idx="17">
                  <c:v>0.4</c:v>
                </c:pt>
                <c:pt idx="18">
                  <c:v>0.6</c:v>
                </c:pt>
                <c:pt idx="19">
                  <c:v>0.8</c:v>
                </c:pt>
                <c:pt idx="20">
                  <c:v>1</c:v>
                </c:pt>
                <c:pt idx="21">
                  <c:v>1.2</c:v>
                </c:pt>
                <c:pt idx="22">
                  <c:v>1.4</c:v>
                </c:pt>
                <c:pt idx="23">
                  <c:v>1.6</c:v>
                </c:pt>
                <c:pt idx="24">
                  <c:v>1.8</c:v>
                </c:pt>
                <c:pt idx="25">
                  <c:v>2</c:v>
                </c:pt>
                <c:pt idx="26">
                  <c:v>1.8</c:v>
                </c:pt>
                <c:pt idx="27">
                  <c:v>1.6</c:v>
                </c:pt>
                <c:pt idx="28">
                  <c:v>1.4</c:v>
                </c:pt>
                <c:pt idx="29">
                  <c:v>1.2</c:v>
                </c:pt>
                <c:pt idx="30">
                  <c:v>1</c:v>
                </c:pt>
                <c:pt idx="31">
                  <c:v>0.8</c:v>
                </c:pt>
                <c:pt idx="32">
                  <c:v>0.6</c:v>
                </c:pt>
                <c:pt idx="33">
                  <c:v>0.4</c:v>
                </c:pt>
                <c:pt idx="34">
                  <c:v>0.2</c:v>
                </c:pt>
                <c:pt idx="35">
                  <c:v>0</c:v>
                </c:pt>
                <c:pt idx="36">
                  <c:v>0.2</c:v>
                </c:pt>
                <c:pt idx="37">
                  <c:v>0.4</c:v>
                </c:pt>
                <c:pt idx="38">
                  <c:v>0.6</c:v>
                </c:pt>
                <c:pt idx="39">
                  <c:v>0.8</c:v>
                </c:pt>
                <c:pt idx="40">
                  <c:v>1</c:v>
                </c:pt>
                <c:pt idx="41">
                  <c:v>1.2</c:v>
                </c:pt>
                <c:pt idx="42">
                  <c:v>1.4</c:v>
                </c:pt>
                <c:pt idx="43">
                  <c:v>1.6</c:v>
                </c:pt>
                <c:pt idx="44">
                  <c:v>1.8</c:v>
                </c:pt>
                <c:pt idx="45">
                  <c:v>2</c:v>
                </c:pt>
                <c:pt idx="46">
                  <c:v>1.8</c:v>
                </c:pt>
                <c:pt idx="47">
                  <c:v>1.6</c:v>
                </c:pt>
                <c:pt idx="48">
                  <c:v>1.4</c:v>
                </c:pt>
                <c:pt idx="49">
                  <c:v>1.2</c:v>
                </c:pt>
                <c:pt idx="5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0E-424B-A358-402D0C59FC55}"/>
            </c:ext>
          </c:extLst>
        </c:ser>
        <c:ser>
          <c:idx val="2"/>
          <c:order val="2"/>
          <c:tx>
            <c:strRef>
              <c:f>Folha1!$J$308</c:f>
              <c:strCache>
                <c:ptCount val="1"/>
                <c:pt idx="0">
                  <c:v>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Folha1!$G$309:$G$359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Folha1!$J$309:$J$359</c:f>
              <c:numCache>
                <c:formatCode>General</c:formatCode>
                <c:ptCount val="51"/>
                <c:pt idx="0">
                  <c:v>0.34</c:v>
                </c:pt>
                <c:pt idx="1">
                  <c:v>-0.12</c:v>
                </c:pt>
                <c:pt idx="2">
                  <c:v>-0.42</c:v>
                </c:pt>
                <c:pt idx="3">
                  <c:v>-0.61</c:v>
                </c:pt>
                <c:pt idx="4">
                  <c:v>-0.75</c:v>
                </c:pt>
                <c:pt idx="5">
                  <c:v>-0.83</c:v>
                </c:pt>
                <c:pt idx="6">
                  <c:v>-0.21</c:v>
                </c:pt>
                <c:pt idx="7">
                  <c:v>0.2</c:v>
                </c:pt>
                <c:pt idx="8">
                  <c:v>0.47</c:v>
                </c:pt>
                <c:pt idx="9">
                  <c:v>0.65</c:v>
                </c:pt>
                <c:pt idx="10">
                  <c:v>0.77</c:v>
                </c:pt>
                <c:pt idx="11">
                  <c:v>0.85</c:v>
                </c:pt>
                <c:pt idx="12">
                  <c:v>0.9</c:v>
                </c:pt>
                <c:pt idx="13">
                  <c:v>0.93</c:v>
                </c:pt>
                <c:pt idx="14">
                  <c:v>0.96</c:v>
                </c:pt>
                <c:pt idx="15">
                  <c:v>0.97</c:v>
                </c:pt>
                <c:pt idx="16">
                  <c:v>0.3</c:v>
                </c:pt>
                <c:pt idx="17">
                  <c:v>-0.14000000000000001</c:v>
                </c:pt>
                <c:pt idx="18">
                  <c:v>-0.43</c:v>
                </c:pt>
                <c:pt idx="19">
                  <c:v>-0.63</c:v>
                </c:pt>
                <c:pt idx="20">
                  <c:v>-0.75</c:v>
                </c:pt>
                <c:pt idx="21">
                  <c:v>-0.84</c:v>
                </c:pt>
                <c:pt idx="22">
                  <c:v>-0.89</c:v>
                </c:pt>
                <c:pt idx="23">
                  <c:v>-0.93</c:v>
                </c:pt>
                <c:pt idx="24">
                  <c:v>-0.95</c:v>
                </c:pt>
                <c:pt idx="25">
                  <c:v>-0.97</c:v>
                </c:pt>
                <c:pt idx="26">
                  <c:v>-0.3</c:v>
                </c:pt>
                <c:pt idx="27">
                  <c:v>0.14000000000000001</c:v>
                </c:pt>
                <c:pt idx="28">
                  <c:v>0.43</c:v>
                </c:pt>
                <c:pt idx="29">
                  <c:v>0.63</c:v>
                </c:pt>
                <c:pt idx="30">
                  <c:v>0.75</c:v>
                </c:pt>
                <c:pt idx="31">
                  <c:v>0.84</c:v>
                </c:pt>
                <c:pt idx="32">
                  <c:v>0.89</c:v>
                </c:pt>
                <c:pt idx="33">
                  <c:v>0.93</c:v>
                </c:pt>
                <c:pt idx="34">
                  <c:v>0.95</c:v>
                </c:pt>
                <c:pt idx="35">
                  <c:v>0.97</c:v>
                </c:pt>
                <c:pt idx="36">
                  <c:v>0.3</c:v>
                </c:pt>
                <c:pt idx="37">
                  <c:v>-0.14000000000000001</c:v>
                </c:pt>
                <c:pt idx="38">
                  <c:v>-0.43</c:v>
                </c:pt>
                <c:pt idx="39">
                  <c:v>-0.63</c:v>
                </c:pt>
                <c:pt idx="40">
                  <c:v>-0.75</c:v>
                </c:pt>
                <c:pt idx="41">
                  <c:v>-0.84</c:v>
                </c:pt>
                <c:pt idx="42">
                  <c:v>-0.89</c:v>
                </c:pt>
                <c:pt idx="43">
                  <c:v>-0.93</c:v>
                </c:pt>
                <c:pt idx="44">
                  <c:v>-0.95</c:v>
                </c:pt>
                <c:pt idx="45">
                  <c:v>-0.97</c:v>
                </c:pt>
                <c:pt idx="46">
                  <c:v>-0.3</c:v>
                </c:pt>
                <c:pt idx="47">
                  <c:v>0.14000000000000001</c:v>
                </c:pt>
                <c:pt idx="48">
                  <c:v>0.43</c:v>
                </c:pt>
                <c:pt idx="49">
                  <c:v>0.63</c:v>
                </c:pt>
                <c:pt idx="50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0E-424B-A358-402D0C59F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981279"/>
        <c:axId val="136979839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Folha1!$I$308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Folha1!$G$309:$G$359</c15:sqref>
                        </c15:formulaRef>
                      </c:ext>
                    </c:extLst>
                    <c:numCache>
                      <c:formatCode>General</c:formatCode>
                      <c:ptCount val="51"/>
                      <c:pt idx="0">
                        <c:v>0</c:v>
                      </c:pt>
                      <c:pt idx="1">
                        <c:v>0.01</c:v>
                      </c:pt>
                      <c:pt idx="2">
                        <c:v>0.02</c:v>
                      </c:pt>
                      <c:pt idx="3">
                        <c:v>0.03</c:v>
                      </c:pt>
                      <c:pt idx="4">
                        <c:v>0.04</c:v>
                      </c:pt>
                      <c:pt idx="5">
                        <c:v>0.05</c:v>
                      </c:pt>
                      <c:pt idx="6">
                        <c:v>0.06</c:v>
                      </c:pt>
                      <c:pt idx="7">
                        <c:v>7.0000000000000007E-2</c:v>
                      </c:pt>
                      <c:pt idx="8">
                        <c:v>0.08</c:v>
                      </c:pt>
                      <c:pt idx="9">
                        <c:v>0.09</c:v>
                      </c:pt>
                      <c:pt idx="10">
                        <c:v>0.1</c:v>
                      </c:pt>
                      <c:pt idx="11">
                        <c:v>0.11</c:v>
                      </c:pt>
                      <c:pt idx="12">
                        <c:v>0.12</c:v>
                      </c:pt>
                      <c:pt idx="13">
                        <c:v>0.13</c:v>
                      </c:pt>
                      <c:pt idx="14">
                        <c:v>0.14000000000000001</c:v>
                      </c:pt>
                      <c:pt idx="15">
                        <c:v>0.15</c:v>
                      </c:pt>
                      <c:pt idx="16">
                        <c:v>0.16</c:v>
                      </c:pt>
                      <c:pt idx="17">
                        <c:v>0.17</c:v>
                      </c:pt>
                      <c:pt idx="18">
                        <c:v>0.18</c:v>
                      </c:pt>
                      <c:pt idx="19">
                        <c:v>0.19</c:v>
                      </c:pt>
                      <c:pt idx="20">
                        <c:v>0.2</c:v>
                      </c:pt>
                      <c:pt idx="21">
                        <c:v>0.21</c:v>
                      </c:pt>
                      <c:pt idx="22">
                        <c:v>0.22</c:v>
                      </c:pt>
                      <c:pt idx="23">
                        <c:v>0.23</c:v>
                      </c:pt>
                      <c:pt idx="24">
                        <c:v>0.24</c:v>
                      </c:pt>
                      <c:pt idx="25">
                        <c:v>0.25</c:v>
                      </c:pt>
                      <c:pt idx="26">
                        <c:v>0.26</c:v>
                      </c:pt>
                      <c:pt idx="27">
                        <c:v>0.27</c:v>
                      </c:pt>
                      <c:pt idx="28">
                        <c:v>0.28000000000000003</c:v>
                      </c:pt>
                      <c:pt idx="29">
                        <c:v>0.28999999999999998</c:v>
                      </c:pt>
                      <c:pt idx="30">
                        <c:v>0.3</c:v>
                      </c:pt>
                      <c:pt idx="31">
                        <c:v>0.31</c:v>
                      </c:pt>
                      <c:pt idx="32">
                        <c:v>0.32</c:v>
                      </c:pt>
                      <c:pt idx="33">
                        <c:v>0.33</c:v>
                      </c:pt>
                      <c:pt idx="34">
                        <c:v>0.34</c:v>
                      </c:pt>
                      <c:pt idx="35">
                        <c:v>0.35</c:v>
                      </c:pt>
                      <c:pt idx="36">
                        <c:v>0.36</c:v>
                      </c:pt>
                      <c:pt idx="37">
                        <c:v>0.37</c:v>
                      </c:pt>
                      <c:pt idx="38">
                        <c:v>0.38</c:v>
                      </c:pt>
                      <c:pt idx="39">
                        <c:v>0.39</c:v>
                      </c:pt>
                      <c:pt idx="40">
                        <c:v>0.4</c:v>
                      </c:pt>
                      <c:pt idx="41">
                        <c:v>0.41</c:v>
                      </c:pt>
                      <c:pt idx="42">
                        <c:v>0.42</c:v>
                      </c:pt>
                      <c:pt idx="43">
                        <c:v>0.43</c:v>
                      </c:pt>
                      <c:pt idx="44">
                        <c:v>0.44</c:v>
                      </c:pt>
                      <c:pt idx="45">
                        <c:v>0.45</c:v>
                      </c:pt>
                      <c:pt idx="46">
                        <c:v>0.46</c:v>
                      </c:pt>
                      <c:pt idx="47">
                        <c:v>0.47</c:v>
                      </c:pt>
                      <c:pt idx="48">
                        <c:v>0.48</c:v>
                      </c:pt>
                      <c:pt idx="49">
                        <c:v>0.49</c:v>
                      </c:pt>
                      <c:pt idx="50">
                        <c:v>0.5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Folha1!$I$309:$I$359</c15:sqref>
                        </c15:formulaRef>
                      </c:ext>
                    </c:extLst>
                    <c:numCache>
                      <c:formatCode>General</c:formatCode>
                      <c:ptCount val="51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FD0E-424B-A358-402D0C59FC55}"/>
                  </c:ext>
                </c:extLst>
              </c15:ser>
            </c15:filteredLineSeries>
          </c:ext>
        </c:extLst>
      </c:lineChart>
      <c:catAx>
        <c:axId val="136981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6979839"/>
        <c:crosses val="autoZero"/>
        <c:auto val="1"/>
        <c:lblAlgn val="ctr"/>
        <c:lblOffset val="100"/>
        <c:noMultiLvlLbl val="0"/>
      </c:catAx>
      <c:valAx>
        <c:axId val="136979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6981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Resposta da componente derivativa com filtro passa-baixo, </a:t>
            </a:r>
          </a:p>
          <a:p>
            <a:pPr>
              <a:defRPr/>
            </a:pPr>
            <a:r>
              <a:rPr lang="pt-P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Kd = 0,05, HW = 10ms, a=1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Folha1!$H$368</c:f>
              <c:strCache>
                <c:ptCount val="1"/>
                <c:pt idx="0">
                  <c:v>y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Folha1!$G$369:$G$419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Folha1!$H$369:$H$419</c:f>
              <c:numCache>
                <c:formatCode>General</c:formatCode>
                <c:ptCount val="51"/>
                <c:pt idx="0">
                  <c:v>1</c:v>
                </c:pt>
                <c:pt idx="1">
                  <c:v>1.2</c:v>
                </c:pt>
                <c:pt idx="2">
                  <c:v>1.4</c:v>
                </c:pt>
                <c:pt idx="3">
                  <c:v>1.6</c:v>
                </c:pt>
                <c:pt idx="4">
                  <c:v>1.8</c:v>
                </c:pt>
                <c:pt idx="5">
                  <c:v>2</c:v>
                </c:pt>
                <c:pt idx="6">
                  <c:v>1.8</c:v>
                </c:pt>
                <c:pt idx="7">
                  <c:v>1.6</c:v>
                </c:pt>
                <c:pt idx="8">
                  <c:v>1.4</c:v>
                </c:pt>
                <c:pt idx="9">
                  <c:v>1.2</c:v>
                </c:pt>
                <c:pt idx="10">
                  <c:v>1</c:v>
                </c:pt>
                <c:pt idx="11">
                  <c:v>0.8</c:v>
                </c:pt>
                <c:pt idx="12">
                  <c:v>0.6</c:v>
                </c:pt>
                <c:pt idx="13">
                  <c:v>0.4</c:v>
                </c:pt>
                <c:pt idx="14">
                  <c:v>0.2</c:v>
                </c:pt>
                <c:pt idx="15">
                  <c:v>0</c:v>
                </c:pt>
                <c:pt idx="16">
                  <c:v>0.2</c:v>
                </c:pt>
                <c:pt idx="17">
                  <c:v>0.4</c:v>
                </c:pt>
                <c:pt idx="18">
                  <c:v>0.6</c:v>
                </c:pt>
                <c:pt idx="19">
                  <c:v>0.8</c:v>
                </c:pt>
                <c:pt idx="20">
                  <c:v>1</c:v>
                </c:pt>
                <c:pt idx="21">
                  <c:v>1.2</c:v>
                </c:pt>
                <c:pt idx="22">
                  <c:v>1.4</c:v>
                </c:pt>
                <c:pt idx="23">
                  <c:v>1.6</c:v>
                </c:pt>
                <c:pt idx="24">
                  <c:v>1.8</c:v>
                </c:pt>
                <c:pt idx="25">
                  <c:v>2</c:v>
                </c:pt>
                <c:pt idx="26">
                  <c:v>1.8</c:v>
                </c:pt>
                <c:pt idx="27">
                  <c:v>1.6</c:v>
                </c:pt>
                <c:pt idx="28">
                  <c:v>1.4</c:v>
                </c:pt>
                <c:pt idx="29">
                  <c:v>1.2</c:v>
                </c:pt>
                <c:pt idx="30">
                  <c:v>1</c:v>
                </c:pt>
                <c:pt idx="31">
                  <c:v>0.8</c:v>
                </c:pt>
                <c:pt idx="32">
                  <c:v>0.6</c:v>
                </c:pt>
                <c:pt idx="33">
                  <c:v>0.4</c:v>
                </c:pt>
                <c:pt idx="34">
                  <c:v>0.2</c:v>
                </c:pt>
                <c:pt idx="35">
                  <c:v>0</c:v>
                </c:pt>
                <c:pt idx="36">
                  <c:v>0.2</c:v>
                </c:pt>
                <c:pt idx="37">
                  <c:v>0.4</c:v>
                </c:pt>
                <c:pt idx="38">
                  <c:v>0.6</c:v>
                </c:pt>
                <c:pt idx="39">
                  <c:v>0.8</c:v>
                </c:pt>
                <c:pt idx="40">
                  <c:v>1</c:v>
                </c:pt>
                <c:pt idx="41">
                  <c:v>1.2</c:v>
                </c:pt>
                <c:pt idx="42">
                  <c:v>1.4</c:v>
                </c:pt>
                <c:pt idx="43">
                  <c:v>1.6</c:v>
                </c:pt>
                <c:pt idx="44">
                  <c:v>1.8</c:v>
                </c:pt>
                <c:pt idx="45">
                  <c:v>2</c:v>
                </c:pt>
                <c:pt idx="46">
                  <c:v>1.8</c:v>
                </c:pt>
                <c:pt idx="47">
                  <c:v>1.6</c:v>
                </c:pt>
                <c:pt idx="48">
                  <c:v>1.4</c:v>
                </c:pt>
                <c:pt idx="49">
                  <c:v>1.2</c:v>
                </c:pt>
                <c:pt idx="5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59-452D-A107-67DC743C813C}"/>
            </c:ext>
          </c:extLst>
        </c:ser>
        <c:ser>
          <c:idx val="2"/>
          <c:order val="2"/>
          <c:tx>
            <c:strRef>
              <c:f>Folha1!$J$368</c:f>
              <c:strCache>
                <c:ptCount val="1"/>
                <c:pt idx="0">
                  <c:v>u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Folha1!$G$369:$G$419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cat>
          <c:val>
            <c:numRef>
              <c:f>Folha1!$J$369:$J$419</c:f>
              <c:numCache>
                <c:formatCode>General</c:formatCode>
                <c:ptCount val="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59-452D-A107-67DC743C81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012479"/>
        <c:axId val="137016319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Folha1!$I$368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Folha1!$G$369:$G$419</c15:sqref>
                        </c15:formulaRef>
                      </c:ext>
                    </c:extLst>
                    <c:numCache>
                      <c:formatCode>General</c:formatCode>
                      <c:ptCount val="51"/>
                      <c:pt idx="0">
                        <c:v>0</c:v>
                      </c:pt>
                      <c:pt idx="1">
                        <c:v>0.01</c:v>
                      </c:pt>
                      <c:pt idx="2">
                        <c:v>0.02</c:v>
                      </c:pt>
                      <c:pt idx="3">
                        <c:v>0.03</c:v>
                      </c:pt>
                      <c:pt idx="4">
                        <c:v>0.04</c:v>
                      </c:pt>
                      <c:pt idx="5">
                        <c:v>0.05</c:v>
                      </c:pt>
                      <c:pt idx="6">
                        <c:v>0.06</c:v>
                      </c:pt>
                      <c:pt idx="7">
                        <c:v>7.0000000000000007E-2</c:v>
                      </c:pt>
                      <c:pt idx="8">
                        <c:v>0.08</c:v>
                      </c:pt>
                      <c:pt idx="9">
                        <c:v>0.09</c:v>
                      </c:pt>
                      <c:pt idx="10">
                        <c:v>0.1</c:v>
                      </c:pt>
                      <c:pt idx="11">
                        <c:v>0.11</c:v>
                      </c:pt>
                      <c:pt idx="12">
                        <c:v>0.12</c:v>
                      </c:pt>
                      <c:pt idx="13">
                        <c:v>0.13</c:v>
                      </c:pt>
                      <c:pt idx="14">
                        <c:v>0.14000000000000001</c:v>
                      </c:pt>
                      <c:pt idx="15">
                        <c:v>0.15</c:v>
                      </c:pt>
                      <c:pt idx="16">
                        <c:v>0.16</c:v>
                      </c:pt>
                      <c:pt idx="17">
                        <c:v>0.17</c:v>
                      </c:pt>
                      <c:pt idx="18">
                        <c:v>0.18</c:v>
                      </c:pt>
                      <c:pt idx="19">
                        <c:v>0.19</c:v>
                      </c:pt>
                      <c:pt idx="20">
                        <c:v>0.2</c:v>
                      </c:pt>
                      <c:pt idx="21">
                        <c:v>0.21</c:v>
                      </c:pt>
                      <c:pt idx="22">
                        <c:v>0.22</c:v>
                      </c:pt>
                      <c:pt idx="23">
                        <c:v>0.23</c:v>
                      </c:pt>
                      <c:pt idx="24">
                        <c:v>0.24</c:v>
                      </c:pt>
                      <c:pt idx="25">
                        <c:v>0.25</c:v>
                      </c:pt>
                      <c:pt idx="26">
                        <c:v>0.26</c:v>
                      </c:pt>
                      <c:pt idx="27">
                        <c:v>0.27</c:v>
                      </c:pt>
                      <c:pt idx="28">
                        <c:v>0.28000000000000003</c:v>
                      </c:pt>
                      <c:pt idx="29">
                        <c:v>0.28999999999999998</c:v>
                      </c:pt>
                      <c:pt idx="30">
                        <c:v>0.3</c:v>
                      </c:pt>
                      <c:pt idx="31">
                        <c:v>0.31</c:v>
                      </c:pt>
                      <c:pt idx="32">
                        <c:v>0.32</c:v>
                      </c:pt>
                      <c:pt idx="33">
                        <c:v>0.33</c:v>
                      </c:pt>
                      <c:pt idx="34">
                        <c:v>0.34</c:v>
                      </c:pt>
                      <c:pt idx="35">
                        <c:v>0.35</c:v>
                      </c:pt>
                      <c:pt idx="36">
                        <c:v>0.36</c:v>
                      </c:pt>
                      <c:pt idx="37">
                        <c:v>0.37</c:v>
                      </c:pt>
                      <c:pt idx="38">
                        <c:v>0.38</c:v>
                      </c:pt>
                      <c:pt idx="39">
                        <c:v>0.39</c:v>
                      </c:pt>
                      <c:pt idx="40">
                        <c:v>0.4</c:v>
                      </c:pt>
                      <c:pt idx="41">
                        <c:v>0.41</c:v>
                      </c:pt>
                      <c:pt idx="42">
                        <c:v>0.42</c:v>
                      </c:pt>
                      <c:pt idx="43">
                        <c:v>0.43</c:v>
                      </c:pt>
                      <c:pt idx="44">
                        <c:v>0.44</c:v>
                      </c:pt>
                      <c:pt idx="45">
                        <c:v>0.45</c:v>
                      </c:pt>
                      <c:pt idx="46">
                        <c:v>0.46</c:v>
                      </c:pt>
                      <c:pt idx="47">
                        <c:v>0.47</c:v>
                      </c:pt>
                      <c:pt idx="48">
                        <c:v>0.48</c:v>
                      </c:pt>
                      <c:pt idx="49">
                        <c:v>0.49</c:v>
                      </c:pt>
                      <c:pt idx="50">
                        <c:v>0.5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Folha1!$I$369:$I$419</c15:sqref>
                        </c15:formulaRef>
                      </c:ext>
                    </c:extLst>
                    <c:numCache>
                      <c:formatCode>General</c:formatCode>
                      <c:ptCount val="51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6559-452D-A107-67DC743C813C}"/>
                  </c:ext>
                </c:extLst>
              </c15:ser>
            </c15:filteredLineSeries>
          </c:ext>
        </c:extLst>
      </c:lineChart>
      <c:catAx>
        <c:axId val="137012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7016319"/>
        <c:crosses val="autoZero"/>
        <c:auto val="1"/>
        <c:lblAlgn val="ctr"/>
        <c:lblOffset val="100"/>
        <c:noMultiLvlLbl val="0"/>
      </c:catAx>
      <c:valAx>
        <c:axId val="137016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7012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22:25:32.36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22:25:45.62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23:40.82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23:46.99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26:05.91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26:47.50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30:04.79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30:27.93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33:07.17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33:46.23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35:10.55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35:51.73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0,'1552'0'0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49:47.5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0,'1728'76'0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49:57.3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0,'1728'76'0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0:20.82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0,'2159'0'0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6:54:42.6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0,'2159'0'0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6:54:42.6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0,'2159'0'0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6:54:42.6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0,'2159'0'0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6:54:42.6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0,'2159'0'0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7:09:01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 0,'3517'0'0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6:54:42.6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0,'2159'0'0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7:16:19.8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 0,'3517'0'0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6:54:42.6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0,'2159'0'0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7:17:02.2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 0,'3517'0'0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6:54:42.6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0,'2159'0'0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7:17:02.2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 0,'3517'0'0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FBCF5-3B4B-468E-9130-935B9D98226D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B3AD8-CC0A-476B-9CD2-90A6E273C36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6041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36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195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F539D-D761-B5C4-F7A7-290F378BD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64E7BB2-5BF8-6C8D-20FD-555B04970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AC8BC4B-4DA4-D3CC-1CC9-CA9AA1CF4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D2E654C-F5D3-BCF1-B958-BDC58D034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37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0771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EC572-1268-856A-735D-1F2D407C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76FB4EF-3409-3CB1-3980-A0CDD85FA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5731CAD-ED7E-2111-830A-C4546F024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298D466-B454-4BC2-9A61-D67454517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38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07082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D03E-9469-59C7-8A61-C91B6DD9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EB8D528-B261-147A-37C8-892CA3E94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AC3F619-BE8E-44D2-0C70-F601AB053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03A962C-1600-11CB-241C-994AED909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39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9480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E4EC-B38D-C81B-7990-E12CB4DD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7556A43-63F4-5565-2610-99518CE50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78E7233-A636-FEB8-0570-35042159A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423212A-0601-9523-1009-4714E6B2A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40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8814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8B704-0085-6991-07DE-D51F07911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8FE8081-E864-DB00-4138-D1D812C91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0D384C9-A56E-31A5-BE78-FBE283DDB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0D0C5D5-EE9E-8B8F-DAC5-4F06220EA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43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171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FA45F-9C2D-B564-2434-0CEE8B0F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A5ABF99-6804-BFBB-7365-B916DDD63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09F77E6-4A31-D0B2-47A6-BA593370B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850471D-67CC-705B-8EB7-9F8E8153B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44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830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120C6-FC29-4D8C-0CA5-E5832968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17BCE76-7C98-45B8-9F40-E85B6CDF7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DD5BB91-E5DC-1089-E462-F1BC7E549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7F216A9-4D06-9ADC-9D7A-8CA5D657B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47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8636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1752-4560-E236-5751-EBF2122E8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E547887-60DD-7017-012E-7D65CA328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6500F29-AD14-D244-409F-EE9DDEF38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3D423ED-FD3B-702A-2B41-8EA6E589A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48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4269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BF47C-00AC-75D1-CB68-3368D4A2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FDB9B46-3762-68FE-0B3F-D160ACEB0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554E8E-B59B-2CCF-511D-0F728EB69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2D217DA-C50C-B658-CEFF-82736D095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4586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0B359-E3C7-042A-F11E-D8CC589B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71F5E2F-26A7-5D17-8078-1B661810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380937-3C0A-4FF5-5A5F-C994A3D64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6691E75-9316-D8A6-C8BE-AAEBA07E0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8649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A49ED-A717-87D9-2AC8-AFE258C6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4C8215A-A21B-3252-7101-CD4CD1865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131496E-F99C-3DA0-015B-CCA77EF95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FDBE734-4EFC-E38E-7AE5-23B38AB64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0561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BC48-3764-5BD0-2E09-FED6EB672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C8C040F-7174-2FA0-1D98-22B312FA0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EF47374-3542-BDEC-C5C5-4B475F188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4E3B76D-2417-65A0-C3B1-47714258A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457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F7D3-B2EA-F08B-832D-8F48DF195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C18C824-3F58-B299-526E-3490E8771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6F22594-2ABE-BC33-8D28-BAE83E09F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3B40A49-EEDD-B0F8-FFCD-6CD642AAB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28968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C1F04-93D2-FD63-BB6A-1E7EEFE4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68A4035-5713-DACA-BCEA-37F3892A8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D5FC39B-AE4D-8910-BE7D-A8AB6EAD2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CB86E93-F252-7873-EF69-E3E0AA41E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52429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1FD4A-9D4C-F6B3-DF43-5FF644EF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4E7B9CF-AA1A-4490-DCB6-A074D93E5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DBD5448-0B1D-B3AD-4E26-DF1B9B57B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8EE1B01-3856-1D6C-C539-46A0522EF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0074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79A90-61D3-9D8D-2790-22A7CFAF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12BF465-A42C-076F-1810-56641E55D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D020269-4A02-FDC0-6B88-3799F8430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309142A-7834-4DD9-6891-BDB22355B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9800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F5C45-7358-C310-7701-53064721D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0239E6B-150C-C6DF-D987-9C7E76016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D0080FD-D673-FEDC-BD95-3B72C4454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2996922-90D8-2B74-F334-241B879A8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59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3937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11A7-9DB2-F51C-2CF9-5AEBFC57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F2DB873-2B14-ABF5-D851-A52D6D4BB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B66110B-19E2-3A80-6669-D8B87E9C4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E4EC931-0589-162B-5DCA-A93470A2D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60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8580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7BB05-A4BC-DD0C-F919-751BD541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8E490F0-F4A7-2485-4310-1E40E2DE4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612986-725B-C059-068D-3229AED21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2DB83AD-FE2E-5F14-377B-6F3093C51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61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93579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3B00C-8DF5-7D1F-99D8-E57EBCEE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471A9B2-87D7-4D4F-1BEE-DE3FA013B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A008584-C26B-A1DA-59F4-AFE42AD46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95DA526-C0CB-15C6-816C-01E9BEF16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62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54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3A66-372C-A729-7279-028CBF32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AB4B97E-3840-37BC-FF95-DECB55D76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5F16659-A743-E968-1722-793B20323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33EFF82-5ADD-6C21-134B-7CB4C4BFD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3AD8-CC0A-476B-9CD2-90A6E273C36E}" type="slidenum">
              <a:rPr lang="pt-PT" smtClean="0"/>
              <a:t>63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8002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57C1A-AC8F-5B4F-040C-A9A1EF223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1D300E-2B40-9865-67F3-E108D134B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09FFDA2-7115-89F8-B15A-CD5ACB0B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EC4C2C7-C72A-3856-DFAA-230B10B0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777FC0E-D575-20A7-EAA8-36A9167C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021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0BFB7-4FD6-EE1C-23AF-4C6ABF9B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90D9A56-23C0-B55E-6A32-4350EF996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BF25BFC-2213-3665-CC85-F533914A9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515CD9C-D40E-D494-2FAE-9A19933B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CCD891A-6EC8-E6FD-395F-4A7CB038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102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FF8D1-227B-0D2B-858D-A905B2A81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9C98B0A-B411-D0B1-E8EA-A90E074C6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CFF801A-F0A0-2BE7-74D7-BB3195EA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5A45AFC-4FAC-5766-C8D1-7B26E9CE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5A9EFC-6975-A851-E248-BF3212AB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560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39FE5-BA61-6039-560C-BEFFC5B7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936196A-463D-1F3B-6E4D-2AF43C2E2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65062F3-6C18-0A63-92D2-C7CC9D32F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362A931-EC19-E952-0322-14476370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1F26EFA-086C-F9BE-D7C5-4908DDF0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0D5503F-305F-33EA-7172-20FDACEF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1581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79C3F-AF0C-DE99-8BB7-10F7DBB1C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4CB654B-00D2-C08A-EB7D-23B3A999A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4B2E9FE-4294-D549-E6AC-0268DE472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1E2C8F3-BB12-038B-7DC4-DD6440824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51A717A-E81B-3032-E241-510F4D049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E221CF9-D7B9-ED08-0A45-B3C42B00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441AA06C-3944-B915-EE93-8479C945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67593E9-E648-D77F-E183-5604B178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620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E74A8-4B6B-11D9-7468-3223B08E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B163761-4514-8250-35C8-986073A4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AD1BAFFD-FA4B-6679-390A-41485EB03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C5B608F-6A9B-8A73-CFDC-5767CE51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0282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0FC665F-BD21-619F-E55D-D0749654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FF26EA6-11E4-A19E-BD32-58850D3FC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EA4F651-5D52-0187-12ED-DC52CA1F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711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6ED99-DAA5-C791-694B-BBA16F4D5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972B5A9-5F83-1D92-4794-FF908E51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5EA49D3-57AB-141A-727A-D1498E865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B466CCE-EE11-E3E2-5624-345633AE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D739A7B-6A86-59D1-362C-0E5435B6C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33308CE-7C5C-B8A4-E274-BDA95C33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585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538FE-411B-32D4-763E-30BDC53C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FA1A1C0-4A7A-519B-7A3C-4885F18D4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C5B52AB-EE45-CBF7-76FB-89EF17D71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60581EE-6813-C85D-4924-CEF9F737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257EE0-0F06-2A8E-DFE4-9416B8CE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FB3BCBC-BA00-60A8-BCBF-C135047E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854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F6DED-6CAF-7BD0-93DC-3F60BABFF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1A8FBDB-E75F-2B47-02C8-B69F28D02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CA4E629-A195-1B5A-5137-24C81CB8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4C1BB6E-30EA-4560-5BB9-31A24449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DC080A-03ED-3E51-B202-C9952245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059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A8D39E-8AEA-526A-1A91-A861D286B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F6E58BE-103C-1312-9CD2-D30788BC0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BBB605C-155E-E149-4155-F04AFC7F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F3A7588-42FB-7CDA-52C7-43E06B27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C9E6E3D-C616-57A0-4422-B62C40E4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956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AA2B90E-E0B6-9E5A-7FF0-CAE3D710C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4A94123-9A7B-AC9E-F3B3-12C26C5AD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2EDD542-AD71-1CB0-5050-B774DEAB9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31F44-367A-4AFE-9581-EB7270E81C36}" type="datetimeFigureOut">
              <a:rPr lang="pt-PT" smtClean="0"/>
              <a:t>12/04/2026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E0EAB1D-8BBB-78FE-9F29-9691C2447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0A3B8AB-B82F-C238-D112-73B4B5473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EAB8A-3B3F-46B4-A585-1C01B0FFE89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145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8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0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customXml" Target="../ink/ink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36.png"/><Relationship Id="rId4" Type="http://schemas.openxmlformats.org/officeDocument/2006/relationships/customXml" Target="../ink/ink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customXml" Target="../ink/ink16.xml"/><Relationship Id="rId4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390.png"/><Relationship Id="rId4" Type="http://schemas.openxmlformats.org/officeDocument/2006/relationships/customXml" Target="../ink/ink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90.png"/><Relationship Id="rId4" Type="http://schemas.openxmlformats.org/officeDocument/2006/relationships/customXml" Target="../ink/ink18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3.png"/><Relationship Id="rId7" Type="http://schemas.openxmlformats.org/officeDocument/2006/relationships/image" Target="../media/image4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390.png"/><Relationship Id="rId4" Type="http://schemas.openxmlformats.org/officeDocument/2006/relationships/customXml" Target="../ink/ink19.xml"/><Relationship Id="rId9" Type="http://schemas.openxmlformats.org/officeDocument/2006/relationships/chart" Target="../charts/chart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3" Type="http://schemas.openxmlformats.org/officeDocument/2006/relationships/image" Target="../media/image5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90.png"/><Relationship Id="rId4" Type="http://schemas.openxmlformats.org/officeDocument/2006/relationships/customXml" Target="../ink/ink21.xml"/><Relationship Id="rId9" Type="http://schemas.openxmlformats.org/officeDocument/2006/relationships/image" Target="../media/image49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55.png"/><Relationship Id="rId7" Type="http://schemas.openxmlformats.org/officeDocument/2006/relationships/image" Target="../media/image4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58.png"/><Relationship Id="rId5" Type="http://schemas.openxmlformats.org/officeDocument/2006/relationships/image" Target="../media/image390.png"/><Relationship Id="rId10" Type="http://schemas.openxmlformats.org/officeDocument/2006/relationships/image" Target="../media/image57.png"/><Relationship Id="rId4" Type="http://schemas.openxmlformats.org/officeDocument/2006/relationships/customXml" Target="../ink/ink23.xml"/><Relationship Id="rId9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9.png"/><Relationship Id="rId7" Type="http://schemas.openxmlformats.org/officeDocument/2006/relationships/image" Target="../media/image49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../media/image390.png"/><Relationship Id="rId4" Type="http://schemas.openxmlformats.org/officeDocument/2006/relationships/customXml" Target="../ink/ink25.xml"/><Relationship Id="rId9" Type="http://schemas.openxmlformats.org/officeDocument/2006/relationships/chart" Target="../charts/char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0F21D-81DB-9BB4-9284-5E599DCEA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069"/>
            <a:ext cx="9144000" cy="1335406"/>
          </a:xfrm>
        </p:spPr>
        <p:txBody>
          <a:bodyPr>
            <a:normAutofit fontScale="90000"/>
          </a:bodyPr>
          <a:lstStyle/>
          <a:p>
            <a:b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CP2 - Controlo Digital da Posição Angular de um Motor CC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77BFB9E-6865-D713-AEF4-45223F706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54557"/>
            <a:ext cx="7135368" cy="281900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6D07370-4F97-811A-5620-F41893C8A613}"/>
              </a:ext>
            </a:extLst>
          </p:cNvPr>
          <p:cNvSpPr txBox="1"/>
          <p:nvPr/>
        </p:nvSpPr>
        <p:spPr>
          <a:xfrm>
            <a:off x="8846820" y="4504861"/>
            <a:ext cx="2654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PL5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Catarina Sousa – a97259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Isabel Gomes – a104868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3CB0099-B127-AC6D-7A8B-085BCBA86D67}"/>
              </a:ext>
            </a:extLst>
          </p:cNvPr>
          <p:cNvGrpSpPr/>
          <p:nvPr/>
        </p:nvGrpSpPr>
        <p:grpSpPr>
          <a:xfrm>
            <a:off x="3700390" y="6062471"/>
            <a:ext cx="4948103" cy="400110"/>
            <a:chOff x="381000" y="6062471"/>
            <a:chExt cx="4948103" cy="400110"/>
          </a:xfrm>
        </p:grpSpPr>
        <p:pic>
          <p:nvPicPr>
            <p:cNvPr id="2050" name="Picture 2" descr="Contactos | DEM">
              <a:extLst>
                <a:ext uri="{FF2B5EF4-FFF2-40B4-BE49-F238E27FC236}">
                  <a16:creationId xmlns:a16="http://schemas.microsoft.com/office/drawing/2014/main" id="{2C79966D-6EA8-F7C2-6F9A-2FD3A9F8ED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6062471"/>
              <a:ext cx="661853" cy="3474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BE3DEFD-BC71-9C41-5696-72937D93F09B}"/>
                </a:ext>
              </a:extLst>
            </p:cNvPr>
            <p:cNvSpPr txBox="1"/>
            <p:nvPr/>
          </p:nvSpPr>
          <p:spPr>
            <a:xfrm>
              <a:off x="1042853" y="6062471"/>
              <a:ext cx="4286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UC: Projeto Integrador em Engenharia Eletrónica Industrial e Computadores 2</a:t>
              </a:r>
            </a:p>
            <a:p>
              <a:r>
                <a:rPr lang="pt-PT" sz="100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Ano Letivo: 2025/2026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6940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BADA1-F5B6-E206-5EBB-9FC323913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6B069-8299-30F4-1DAB-4E0707F37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5488"/>
            <a:ext cx="10515600" cy="712280"/>
          </a:xfrm>
        </p:spPr>
        <p:txBody>
          <a:bodyPr>
            <a:normAutofit/>
          </a:bodyPr>
          <a:lstStyle/>
          <a:p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dos objetivos – Avaliação Intermédia</a:t>
            </a:r>
            <a:endParaRPr lang="pt-P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EF59A01-F871-4309-4A5E-45276432D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783"/>
            <a:ext cx="10515600" cy="53017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P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0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Diagrama de Blocos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Esquemático do sistema de controlo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Diagrama da máquina de estados</a:t>
            </a:r>
            <a:endParaRPr lang="pt-PT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P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1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dos comandos: gramática e utilização em cada estado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Testes dos comandos</a:t>
            </a:r>
            <a:endParaRPr lang="pt-PT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P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Medição da posição e velocidade 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Leitura do sentido de velocidade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Conversão do número de pulsos em velocidade e em posição angular</a:t>
            </a:r>
          </a:p>
          <a:p>
            <a:pPr marL="1371600" lvl="3" indent="0">
              <a:buNone/>
            </a:pPr>
            <a:r>
              <a:rPr lang="pt-PT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1.2.1. Sinal gerado no osciloscópio (HW = 5ms e HW = 10ms)</a:t>
            </a:r>
          </a:p>
          <a:p>
            <a:pPr marL="1371600" lvl="3" indent="0">
              <a:buNone/>
            </a:pPr>
            <a:r>
              <a:rPr lang="pt-PT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1.2.2. Validação da leitura da velocidade</a:t>
            </a:r>
          </a:p>
          <a:p>
            <a:pPr marL="1371600" lvl="3" indent="0">
              <a:buNone/>
            </a:pPr>
            <a:r>
              <a:rPr lang="pt-PT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1.2.3. Validação da leitura da posição angular</a:t>
            </a:r>
          </a:p>
          <a:p>
            <a:pPr marL="0" indent="0"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P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3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comando para um canal PWM bipolar e acionamento do motor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Cálculos para o PWM</a:t>
            </a: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AC32E3-B927-93A2-1225-FA68D41EF268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1849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92C34-C99B-D360-D454-6801D14A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0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1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D6C25D8-D9EE-DAA3-2610-32F835D16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Diagrama de Blocos: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943BB7-7BE5-690F-AEE5-B6B9D3E5A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52" y="2309999"/>
            <a:ext cx="10317495" cy="386696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5349B6C-3BE7-E50F-2046-91870CC95621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547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AE8A-0FBF-D9DC-E352-15671697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DA348-5057-31C0-CEA2-953D791D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0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1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FFB6F87-7833-37AF-5E76-F38B4A15C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Esquemático do sistema de controlo: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37E8EC4-F0F9-361E-0583-1B4A947EF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" t="9425" r="2049" b="8582"/>
          <a:stretch>
            <a:fillRect/>
          </a:stretch>
        </p:blipFill>
        <p:spPr>
          <a:xfrm>
            <a:off x="161544" y="2536666"/>
            <a:ext cx="11868912" cy="324015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40AB3A3-2A0D-B9FF-EBFE-A1F10A94C680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6819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23EC0-F58D-11B1-A8E0-B7A55FC3D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627CC-9E81-C0DA-9665-E0A5C6CD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0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1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EF9F0F0-6D40-4A1D-8873-6B576B472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Esquemático do sistema de controlo: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C149D5-C1DF-A3A7-404F-1BB8D2C54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" t="9425" r="2049" b="8582"/>
          <a:stretch>
            <a:fillRect/>
          </a:stretch>
        </p:blipFill>
        <p:spPr>
          <a:xfrm>
            <a:off x="161543" y="2536666"/>
            <a:ext cx="9498777" cy="259311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D0B71C4-42F5-33DB-A0DB-DD0B911A17B2}"/>
              </a:ext>
            </a:extLst>
          </p:cNvPr>
          <p:cNvSpPr txBox="1"/>
          <p:nvPr/>
        </p:nvSpPr>
        <p:spPr>
          <a:xfrm>
            <a:off x="7196328" y="4798067"/>
            <a:ext cx="4834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t-PT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variáveis de controlo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são: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Variável controlada: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posição angular da carga rotativa;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Variável de atuação: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tensão aplicada ao motor;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Variável de perturbação: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resistência mecânica;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Variável de comando: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referência da posição angular;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Variável de medida: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posição angular medida.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C1D1A6-1D1A-03A4-9AF5-F0E98290BA66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6989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D229B-2682-0720-CA1D-180DBC1C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3ACE5-D1E4-172B-1487-C145A39A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0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1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361FD98-2911-5C94-A05A-932EDC0A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Esquemático do sistema de controlo: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1C2565-DAFA-A95A-03BE-2F39940CA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" t="9425" r="2049" b="8582"/>
          <a:stretch>
            <a:fillRect/>
          </a:stretch>
        </p:blipFill>
        <p:spPr>
          <a:xfrm>
            <a:off x="161543" y="2536666"/>
            <a:ext cx="9498777" cy="259311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C81B5E1-9689-F286-65D1-E4C8EF8F3824}"/>
              </a:ext>
            </a:extLst>
          </p:cNvPr>
          <p:cNvSpPr txBox="1"/>
          <p:nvPr/>
        </p:nvSpPr>
        <p:spPr>
          <a:xfrm>
            <a:off x="7196328" y="4798067"/>
            <a:ext cx="4834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PT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subsistemas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 sistema de controlo são: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Sistema: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Carga rotativa, Motor CC;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Atuador: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PWM, Ponte H;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Controlador: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STM32;</a:t>
            </a:r>
            <a:b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16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Sensor: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6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r>
              <a:rPr lang="pt-PT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250F09-DAF6-DBC5-4CDD-24E5CC4D5455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5473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9CC9A-1F0F-8724-4664-9C6E3504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FE13C-940F-C00D-7F6C-44ACFD30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0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1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6C5B7D7-8C52-C994-10F3-62C445FE9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Diagrama da máquina de estados: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5405B9-FAAE-4576-70AB-3390173AF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5771" r="5130"/>
          <a:stretch>
            <a:fillRect/>
          </a:stretch>
        </p:blipFill>
        <p:spPr>
          <a:xfrm>
            <a:off x="5401055" y="1027906"/>
            <a:ext cx="6399657" cy="5623673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172D584-790C-5A7D-F87F-AA5AE9B53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943930"/>
              </p:ext>
            </p:extLst>
          </p:nvPr>
        </p:nvGraphicFramePr>
        <p:xfrm>
          <a:off x="865886" y="3637289"/>
          <a:ext cx="4373626" cy="1709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144">
                  <a:extLst>
                    <a:ext uri="{9D8B030D-6E8A-4147-A177-3AD203B41FA5}">
                      <a16:colId xmlns:a16="http://schemas.microsoft.com/office/drawing/2014/main" val="1763749096"/>
                    </a:ext>
                  </a:extLst>
                </a:gridCol>
                <a:gridCol w="3002482">
                  <a:extLst>
                    <a:ext uri="{9D8B030D-6E8A-4147-A177-3AD203B41FA5}">
                      <a16:colId xmlns:a16="http://schemas.microsoft.com/office/drawing/2014/main" val="2277318133"/>
                    </a:ext>
                  </a:extLst>
                </a:gridCol>
              </a:tblGrid>
              <a:tr h="354335">
                <a:tc>
                  <a:txBody>
                    <a:bodyPr/>
                    <a:lstStyle/>
                    <a:p>
                      <a:pPr algn="ctr"/>
                      <a:r>
                        <a:rPr lang="pt-PT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ESTADOS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COMANDOS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187622"/>
                  </a:ext>
                </a:extLst>
              </a:tr>
              <a:tr h="33893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40405"/>
                  </a:ext>
                </a:extLst>
              </a:tr>
              <a:tr h="33840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CS, HW, RT, RESPOS, PID</a:t>
                      </a:r>
                      <a:endParaRPr lang="pt-P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94163"/>
                  </a:ext>
                </a:extLst>
              </a:tr>
              <a:tr h="33893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CS, EN ,R, PWM, RESPOS</a:t>
                      </a:r>
                      <a:endParaRPr lang="pt-P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200088"/>
                  </a:ext>
                </a:extLst>
              </a:tr>
              <a:tr h="33893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CS, EN</a:t>
                      </a:r>
                      <a:endParaRPr lang="pt-P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82993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2EEF1526-82EF-EEF8-5089-BD26565D7D43}"/>
              </a:ext>
            </a:extLst>
          </p:cNvPr>
          <p:cNvSpPr txBox="1"/>
          <p:nvPr/>
        </p:nvSpPr>
        <p:spPr>
          <a:xfrm>
            <a:off x="838200" y="3131000"/>
            <a:ext cx="4187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Comandos a serem executados em cada estado: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F6A39C-BE3F-BDB7-CA5B-391EC7E1FCCA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21935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80DD-2464-1053-C494-47923C6B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87EB4-12A5-AB35-9660-705D708B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1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2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6D35F07-89C6-F2D4-5E05-F3E9C1674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dos comandos: gramática e utilização em cada estado</a:t>
            </a:r>
          </a:p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A4011C4-F8FA-5472-604B-048BF8D42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674291"/>
              </p:ext>
            </p:extLst>
          </p:nvPr>
        </p:nvGraphicFramePr>
        <p:xfrm>
          <a:off x="1778000" y="2458403"/>
          <a:ext cx="863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908">
                  <a:extLst>
                    <a:ext uri="{9D8B030D-6E8A-4147-A177-3AD203B41FA5}">
                      <a16:colId xmlns:a16="http://schemas.microsoft.com/office/drawing/2014/main" val="385937572"/>
                    </a:ext>
                  </a:extLst>
                </a:gridCol>
                <a:gridCol w="7079092">
                  <a:extLst>
                    <a:ext uri="{9D8B030D-6E8A-4147-A177-3AD203B41FA5}">
                      <a16:colId xmlns:a16="http://schemas.microsoft.com/office/drawing/2014/main" val="341123237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pt-PT" sz="17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COMANDOS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54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700" b="0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Control system</a:t>
                      </a:r>
                      <a:r>
                        <a:rPr lang="sv-SE" sz="17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sv-SE" sz="17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&lt;char&gt; += “CS </a:t>
                      </a:r>
                      <a:r>
                        <a:rPr lang="sv-SE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 &lt;dig&gt;+” </a:t>
                      </a:r>
                      <a:endParaRPr lang="pt-PT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992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700" b="0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Enable</a:t>
                      </a:r>
                      <a:r>
                        <a:rPr lang="pt-PT" sz="17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dos motores: </a:t>
                      </a:r>
                      <a:r>
                        <a:rPr lang="pt-PT" sz="17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&lt;char&gt; += “EN </a:t>
                      </a:r>
                      <a:r>
                        <a:rPr lang="el-GR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 &lt;</a:t>
                      </a:r>
                      <a:r>
                        <a:rPr lang="pt-PT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dig&gt;+” </a:t>
                      </a:r>
                      <a:endParaRPr lang="pt-PT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299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HW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7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Período de amostragem: </a:t>
                      </a:r>
                      <a:r>
                        <a:rPr lang="pt-PT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&lt;char&gt; += “HW β &lt;uint&gt;” </a:t>
                      </a:r>
                      <a:endParaRPr lang="pt-PT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03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700" b="0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Reading Type</a:t>
                      </a:r>
                      <a:r>
                        <a:rPr lang="pt-PT" sz="17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pt-PT" sz="17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&lt;char&gt; += “RT </a:t>
                      </a:r>
                      <a:r>
                        <a:rPr lang="el-GR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 &lt;</a:t>
                      </a:r>
                      <a:r>
                        <a:rPr lang="pt-PT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dig&gt;+” </a:t>
                      </a:r>
                      <a:endParaRPr lang="pt-PT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873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Reading</a:t>
                      </a:r>
                      <a:r>
                        <a:rPr lang="en-US" sz="17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7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&lt;char&gt; += “R </a:t>
                      </a:r>
                      <a:r>
                        <a:rPr lang="en-US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β &lt;dig&gt;+ β &lt;uint&gt;+” </a:t>
                      </a:r>
                      <a:endParaRPr lang="pt-PT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02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PWM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7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Tensão Normalizada: </a:t>
                      </a:r>
                      <a:r>
                        <a:rPr lang="pt-PT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&lt;char&gt; += “PWM β &lt;signval&gt;+” </a:t>
                      </a:r>
                      <a:endParaRPr lang="pt-PT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340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7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Reinicializa a posição zero do disco: </a:t>
                      </a:r>
                      <a:r>
                        <a:rPr lang="pt-PT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&lt;char&gt; += “RESPOS ” </a:t>
                      </a:r>
                      <a:endParaRPr lang="pt-PT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48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7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Definir parâmetros do controlador PID: </a:t>
                      </a:r>
                      <a:r>
                        <a:rPr lang="pt-PT" sz="1700" b="1" i="1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&lt;char&gt;+=“PID β &lt;dig&gt; β &lt;float&gt;+ </a:t>
                      </a:r>
                      <a:endParaRPr lang="pt-PT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552801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3E42FE43-5A9D-52EF-BE69-EEF37A745C1D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72398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0202-A30B-6F34-1442-EB0B142B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EADAD-9103-C303-012B-A693397F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1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2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75F5563-B861-2B3B-4EAD-7E06C5E55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dos comandos: gramática e utilização em cada estado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Testes dos comandos</a:t>
            </a:r>
          </a:p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D1CEA7-C62B-15DD-2632-3CC588514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30" r="74436"/>
          <a:stretch>
            <a:fillRect/>
          </a:stretch>
        </p:blipFill>
        <p:spPr>
          <a:xfrm>
            <a:off x="838201" y="3883695"/>
            <a:ext cx="3995928" cy="2453107"/>
          </a:xfrm>
          <a:prstGeom prst="rect">
            <a:avLst/>
          </a:prstGeom>
        </p:spPr>
      </p:pic>
      <p:sp>
        <p:nvSpPr>
          <p:cNvPr id="7" name="Seta: Pentágono 6">
            <a:extLst>
              <a:ext uri="{FF2B5EF4-FFF2-40B4-BE49-F238E27FC236}">
                <a16:creationId xmlns:a16="http://schemas.microsoft.com/office/drawing/2014/main" id="{A62AD392-526B-5E81-7149-3FA5CA11EB60}"/>
              </a:ext>
            </a:extLst>
          </p:cNvPr>
          <p:cNvSpPr/>
          <p:nvPr/>
        </p:nvSpPr>
        <p:spPr>
          <a:xfrm>
            <a:off x="838200" y="2697480"/>
            <a:ext cx="3995928" cy="905256"/>
          </a:xfrm>
          <a:prstGeom prst="homePlate">
            <a:avLst>
              <a:gd name="adj" fmla="val 14835"/>
            </a:avLst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do comando </a:t>
            </a:r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Transições entre estados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C409430-93BC-6D43-8088-A969F3C48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6" r="54741" b="27297"/>
          <a:stretch>
            <a:fillRect/>
          </a:stretch>
        </p:blipFill>
        <p:spPr>
          <a:xfrm>
            <a:off x="5181921" y="2392464"/>
            <a:ext cx="6141427" cy="3960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3D52D296-3CF9-4337-02ED-F60C1E62C317}"/>
                  </a:ext>
                </a:extLst>
              </p14:cNvPr>
              <p14:cNvContentPartPr/>
              <p14:nvPr/>
            </p14:nvContentPartPr>
            <p14:xfrm>
              <a:off x="892941" y="4001294"/>
              <a:ext cx="559080" cy="72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3D52D296-3CF9-4337-02ED-F60C1E62C3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941" y="3785294"/>
                <a:ext cx="666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90668775-5B38-20A1-219C-D8BFC2EF507A}"/>
                  </a:ext>
                </a:extLst>
              </p14:cNvPr>
              <p14:cNvContentPartPr/>
              <p14:nvPr/>
            </p14:nvContentPartPr>
            <p14:xfrm>
              <a:off x="5243199" y="2504859"/>
              <a:ext cx="559080" cy="72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90668775-5B38-20A1-219C-D8BFC2EF50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9199" y="2288859"/>
                <a:ext cx="66672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A296A4EC-8039-FC5B-4911-9056F52C872D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39825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B1031-3B38-44CF-3FB1-100DED56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E1D3A-A2FA-9DC8-9C9C-5B792FEC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1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2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06FDD6A-2997-1936-5535-754DB81E9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dos comandos: gramática e utilização em cada estado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Testes dos comandos</a:t>
            </a:r>
          </a:p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eta: Pentágono 6">
            <a:extLst>
              <a:ext uri="{FF2B5EF4-FFF2-40B4-BE49-F238E27FC236}">
                <a16:creationId xmlns:a16="http://schemas.microsoft.com/office/drawing/2014/main" id="{FE79BC5F-B6F9-2877-63FC-814EE6088DE3}"/>
              </a:ext>
            </a:extLst>
          </p:cNvPr>
          <p:cNvSpPr/>
          <p:nvPr/>
        </p:nvSpPr>
        <p:spPr>
          <a:xfrm>
            <a:off x="838200" y="2697480"/>
            <a:ext cx="3995928" cy="905256"/>
          </a:xfrm>
          <a:prstGeom prst="homePlate">
            <a:avLst>
              <a:gd name="adj" fmla="val 14835"/>
            </a:avLst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dos comandos </a:t>
            </a:r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Mudança do período de amostragem e </a:t>
            </a:r>
            <a:r>
              <a:rPr lang="pt-PT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 motores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419AB7-181C-9584-46FF-FC9736950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11" r="74340"/>
          <a:stretch>
            <a:fillRect/>
          </a:stretch>
        </p:blipFill>
        <p:spPr>
          <a:xfrm>
            <a:off x="838200" y="3903273"/>
            <a:ext cx="3995927" cy="2451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DA27B4D-7211-EE02-0FB5-C6F6C13C7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01" r="52159" b="24731"/>
          <a:stretch>
            <a:fillRect/>
          </a:stretch>
        </p:blipFill>
        <p:spPr>
          <a:xfrm>
            <a:off x="5216568" y="2392464"/>
            <a:ext cx="6116400" cy="39624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68448F7-45E6-F24E-CE18-D6C0EF204101}"/>
                  </a:ext>
                </a:extLst>
              </p14:cNvPr>
              <p14:cNvContentPartPr/>
              <p14:nvPr/>
            </p14:nvContentPartPr>
            <p14:xfrm>
              <a:off x="5243199" y="2504859"/>
              <a:ext cx="559080" cy="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68448F7-45E6-F24E-CE18-D6C0EF2041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9199" y="2288859"/>
                <a:ext cx="666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BD95BBE-F404-4D9B-F244-2CD8DF986752}"/>
                  </a:ext>
                </a:extLst>
              </p14:cNvPr>
              <p14:cNvContentPartPr/>
              <p14:nvPr/>
            </p14:nvContentPartPr>
            <p14:xfrm>
              <a:off x="892941" y="4001294"/>
              <a:ext cx="559080" cy="72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BD95BBE-F404-4D9B-F244-2CD8DF9867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941" y="3785294"/>
                <a:ext cx="66672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78926C9A-C4D2-DCDE-657A-B97609869661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8430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F7F46-CB68-9C82-EC24-96597553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3158E-477F-EF60-805B-66F4F899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1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2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FF435D8-D0C2-6C40-614B-BB69DA73C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dos comandos: gramática e utilização em cada estado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Testes dos comandos</a:t>
            </a:r>
          </a:p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eta: Pentágono 6">
            <a:extLst>
              <a:ext uri="{FF2B5EF4-FFF2-40B4-BE49-F238E27FC236}">
                <a16:creationId xmlns:a16="http://schemas.microsoft.com/office/drawing/2014/main" id="{6BB98A58-A90B-3E78-9CC9-C3E62C8B19D6}"/>
              </a:ext>
            </a:extLst>
          </p:cNvPr>
          <p:cNvSpPr/>
          <p:nvPr/>
        </p:nvSpPr>
        <p:spPr>
          <a:xfrm>
            <a:off x="838200" y="2697480"/>
            <a:ext cx="3995928" cy="905256"/>
          </a:xfrm>
          <a:prstGeom prst="homePlate">
            <a:avLst>
              <a:gd name="adj" fmla="val 14835"/>
            </a:avLst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dos comandos </a:t>
            </a:r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RESPOS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Configuração do tipo de leitura e reinicialização da posição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1617C1-2B90-BEDC-8D87-F3F8A01DB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39" r="55630" b="27739"/>
          <a:stretch>
            <a:fillRect/>
          </a:stretch>
        </p:blipFill>
        <p:spPr>
          <a:xfrm>
            <a:off x="5202558" y="2368249"/>
            <a:ext cx="6151241" cy="393861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5E2BFAE-F147-0D6F-6763-DACE47013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11" r="73628"/>
          <a:stretch>
            <a:fillRect/>
          </a:stretch>
        </p:blipFill>
        <p:spPr>
          <a:xfrm>
            <a:off x="838200" y="3919600"/>
            <a:ext cx="3995928" cy="23901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5152596-0F86-C855-4CC0-FE30E69A4E82}"/>
                  </a:ext>
                </a:extLst>
              </p14:cNvPr>
              <p14:cNvContentPartPr/>
              <p14:nvPr/>
            </p14:nvContentPartPr>
            <p14:xfrm>
              <a:off x="892941" y="4001294"/>
              <a:ext cx="559080" cy="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5152596-0F86-C855-4CC0-FE30E69A4E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941" y="3785294"/>
                <a:ext cx="666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472CF5F9-A08E-92BB-BF53-53B08CBF3EA7}"/>
                  </a:ext>
                </a:extLst>
              </p14:cNvPr>
              <p14:cNvContentPartPr/>
              <p14:nvPr/>
            </p14:nvContentPartPr>
            <p14:xfrm>
              <a:off x="5243199" y="2504859"/>
              <a:ext cx="559080" cy="72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472CF5F9-A08E-92BB-BF53-53B08CBF3E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9199" y="2288859"/>
                <a:ext cx="66672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D1615829-1446-731F-D63F-8C5DCFDF5B0C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07905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0281-7A05-F2E6-1C8A-0A96BA7E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E32F1-859C-7802-D4D6-1BBAD9C0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1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2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323DC68-43AC-B9B4-CCB5-2CDBF7D8D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dos comandos: gramática e utilização em cada estado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Testes dos comandos</a:t>
            </a:r>
          </a:p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eta: Pentágono 6">
            <a:extLst>
              <a:ext uri="{FF2B5EF4-FFF2-40B4-BE49-F238E27FC236}">
                <a16:creationId xmlns:a16="http://schemas.microsoft.com/office/drawing/2014/main" id="{A88F47FC-E7B9-E859-9A1D-DABB11B33C83}"/>
              </a:ext>
            </a:extLst>
          </p:cNvPr>
          <p:cNvSpPr/>
          <p:nvPr/>
        </p:nvSpPr>
        <p:spPr>
          <a:xfrm>
            <a:off x="838200" y="2697480"/>
            <a:ext cx="3995928" cy="905256"/>
          </a:xfrm>
          <a:prstGeom prst="homePlate">
            <a:avLst>
              <a:gd name="adj" fmla="val 14835"/>
            </a:avLst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do comando </a:t>
            </a:r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Configuração da leitura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072CD6-AC87-C3E4-0BF9-850AEE820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5" r="55167" b="27297"/>
          <a:stretch>
            <a:fillRect/>
          </a:stretch>
        </p:blipFill>
        <p:spPr>
          <a:xfrm>
            <a:off x="5191760" y="2366300"/>
            <a:ext cx="6162039" cy="3945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2F09B48-7300-FFE2-4705-7BE95E4C9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00" r="74183"/>
          <a:stretch>
            <a:fillRect/>
          </a:stretch>
        </p:blipFill>
        <p:spPr>
          <a:xfrm>
            <a:off x="838128" y="3863332"/>
            <a:ext cx="3996000" cy="24485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0685EEB-B417-AC9E-BBE6-E6003ED1ED7F}"/>
                  </a:ext>
                </a:extLst>
              </p14:cNvPr>
              <p14:cNvContentPartPr/>
              <p14:nvPr/>
            </p14:nvContentPartPr>
            <p14:xfrm>
              <a:off x="892941" y="4001294"/>
              <a:ext cx="559080" cy="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0685EEB-B417-AC9E-BBE6-E6003ED1ED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941" y="3785294"/>
                <a:ext cx="666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8C4096A-4233-0C08-7E58-DE18B11C6825}"/>
                  </a:ext>
                </a:extLst>
              </p14:cNvPr>
              <p14:cNvContentPartPr/>
              <p14:nvPr/>
            </p14:nvContentPartPr>
            <p14:xfrm>
              <a:off x="5243199" y="2504859"/>
              <a:ext cx="559080" cy="72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8C4096A-4233-0C08-7E58-DE18B11C68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9199" y="2288859"/>
                <a:ext cx="66672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960B1080-4439-0CEC-7CD4-10F47AD5DF56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4617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2E4DC-0A70-AA7C-DBFB-CA1B3730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9E9BB-1A28-D171-EF48-0EAFA41E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1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2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012A59E-6E55-F1CD-D5CE-6525652E9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dos comandos: gramática e utilização em cada estado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Testes dos comandos</a:t>
            </a:r>
          </a:p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eta: Pentágono 6">
            <a:extLst>
              <a:ext uri="{FF2B5EF4-FFF2-40B4-BE49-F238E27FC236}">
                <a16:creationId xmlns:a16="http://schemas.microsoft.com/office/drawing/2014/main" id="{211BAE8D-7344-559C-3E70-E13D5BE7E971}"/>
              </a:ext>
            </a:extLst>
          </p:cNvPr>
          <p:cNvSpPr/>
          <p:nvPr/>
        </p:nvSpPr>
        <p:spPr>
          <a:xfrm>
            <a:off x="838200" y="2697480"/>
            <a:ext cx="3995928" cy="905256"/>
          </a:xfrm>
          <a:prstGeom prst="homePlate">
            <a:avLst>
              <a:gd name="adj" fmla="val 14835"/>
            </a:avLst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do comando </a:t>
            </a:r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do </a:t>
            </a:r>
            <a:r>
              <a:rPr lang="pt-PT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duty-cycle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76D8D66-E274-8F33-5EFA-144898666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01" r="74212"/>
          <a:stretch>
            <a:fillRect/>
          </a:stretch>
        </p:blipFill>
        <p:spPr>
          <a:xfrm>
            <a:off x="838200" y="3883319"/>
            <a:ext cx="3995928" cy="24516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F12099A-50B6-DE51-175C-B75D61FC1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02" r="55296" b="28266"/>
          <a:stretch>
            <a:fillRect/>
          </a:stretch>
        </p:blipFill>
        <p:spPr>
          <a:xfrm>
            <a:off x="5201084" y="2392464"/>
            <a:ext cx="6097975" cy="3945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84D2EA3-E029-5DDD-45A7-8B17645A2922}"/>
                  </a:ext>
                </a:extLst>
              </p14:cNvPr>
              <p14:cNvContentPartPr/>
              <p14:nvPr/>
            </p14:nvContentPartPr>
            <p14:xfrm>
              <a:off x="892941" y="4001294"/>
              <a:ext cx="559080" cy="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84D2EA3-E029-5DDD-45A7-8B17645A29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941" y="3785294"/>
                <a:ext cx="666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B18442C-B49A-5A5A-ED18-D5FEFEDB40B3}"/>
                  </a:ext>
                </a:extLst>
              </p14:cNvPr>
              <p14:cNvContentPartPr/>
              <p14:nvPr/>
            </p14:nvContentPartPr>
            <p14:xfrm>
              <a:off x="5243199" y="2504859"/>
              <a:ext cx="559080" cy="72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B18442C-B49A-5A5A-ED18-D5FEFEDB40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9199" y="2288859"/>
                <a:ext cx="66672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05A02A1F-B699-D8E7-0BED-EBBD0263F25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4499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70F1-ACC9-DCFD-8089-2921C3ABD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E5068-4B3E-FCBC-1BFC-A9A6BB591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1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2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C574B09-2603-14C9-624F-BC83C5725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dos comandos: gramática e utilização em cada estado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Testes dos comandos</a:t>
            </a:r>
          </a:p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eta: Pentágono 6">
            <a:extLst>
              <a:ext uri="{FF2B5EF4-FFF2-40B4-BE49-F238E27FC236}">
                <a16:creationId xmlns:a16="http://schemas.microsoft.com/office/drawing/2014/main" id="{14E64109-5F0A-20E6-D2CB-DC1BDC709B9D}"/>
              </a:ext>
            </a:extLst>
          </p:cNvPr>
          <p:cNvSpPr/>
          <p:nvPr/>
        </p:nvSpPr>
        <p:spPr>
          <a:xfrm>
            <a:off x="838200" y="2697480"/>
            <a:ext cx="3995928" cy="905256"/>
          </a:xfrm>
          <a:prstGeom prst="homePlate">
            <a:avLst>
              <a:gd name="adj" fmla="val 14835"/>
            </a:avLst>
          </a:prstGeom>
          <a:solidFill>
            <a:schemeClr val="bg1">
              <a:lumMod val="85000"/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 do comando </a:t>
            </a:r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Configuração de variáveis e parâmetros do controlador PID</a:t>
            </a:r>
            <a:endParaRPr lang="pt-PT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5DE1648-5F78-BD73-A211-A0EACE305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62" r="74415"/>
          <a:stretch>
            <a:fillRect/>
          </a:stretch>
        </p:blipFill>
        <p:spPr>
          <a:xfrm>
            <a:off x="838128" y="3872249"/>
            <a:ext cx="3996000" cy="24626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8F5F30C-EACC-9E34-458C-3B0854E1C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1" r="55089" b="26997"/>
          <a:stretch>
            <a:fillRect/>
          </a:stretch>
        </p:blipFill>
        <p:spPr>
          <a:xfrm>
            <a:off x="5182659" y="2392464"/>
            <a:ext cx="6116400" cy="39481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CD15504-403B-49F9-DFC2-B14147616309}"/>
                  </a:ext>
                </a:extLst>
              </p14:cNvPr>
              <p14:cNvContentPartPr/>
              <p14:nvPr/>
            </p14:nvContentPartPr>
            <p14:xfrm>
              <a:off x="892941" y="4001294"/>
              <a:ext cx="559080" cy="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CD15504-403B-49F9-DFC2-B141476163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941" y="3785294"/>
                <a:ext cx="666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A5813A8-6A31-B2F4-38DA-79D7706947F4}"/>
                  </a:ext>
                </a:extLst>
              </p14:cNvPr>
              <p14:cNvContentPartPr/>
              <p14:nvPr/>
            </p14:nvContentPartPr>
            <p14:xfrm>
              <a:off x="5243199" y="2504859"/>
              <a:ext cx="559080" cy="72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A5813A8-6A31-B2F4-38DA-79D7706947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9199" y="2288859"/>
                <a:ext cx="66672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EFA1A185-4073-03C6-2BF0-D6C04F87A3E9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97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217D7-C203-8A23-B9F3-46B9FA88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5C272-F90B-880E-27B2-FEC37AE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EEA0937-41E8-A2CC-D3A6-2E9439CE1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Medição da posição e velocidade</a:t>
            </a:r>
          </a:p>
          <a:p>
            <a:pPr marL="0" indent="0">
              <a:lnSpc>
                <a:spcPct val="110000"/>
              </a:lnSpc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motor CC (MOT02043) possui um </a:t>
            </a:r>
            <a:r>
              <a:rPr lang="pt-P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gera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pulsos em quadratura por volta do motor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uma caixa redutora de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120:1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cada volta do eixo corresponde a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1920 pulsos em quadratura: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A - 960 pulsos;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B - 960 pulsos.</a:t>
            </a:r>
          </a:p>
          <a:p>
            <a:pPr marL="0" indent="0">
              <a:lnSpc>
                <a:spcPct val="150000"/>
              </a:lnSpc>
              <a:buNone/>
            </a:pPr>
            <a:endParaRPr lang="pt-P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Assim, é possível determinar: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PT" sz="15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</a:t>
            </a:r>
            <a:r>
              <a:rPr lang="pt-PT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osição</a:t>
            </a: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através do número de pulsos gerados pelo </a:t>
            </a:r>
            <a:r>
              <a:rPr lang="pt-PT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PT" sz="15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pt-PT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elocidade</a:t>
            </a:r>
            <a:r>
              <a:rPr lang="pt-PT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através do número de pulsos num dado período de tempo. </a:t>
            </a:r>
          </a:p>
          <a:p>
            <a:pPr marL="457200" lvl="1" indent="0">
              <a:buNone/>
            </a:pPr>
            <a:endParaRPr lang="pt-P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907259-CA50-16C0-DB1B-B5A4A218206A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09719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40AE-E674-4DAD-AA89-895EB7B6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6090D-860E-EB3E-1109-762DA524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128A574B-20FC-5752-8784-AC28C177A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Medição da posição e velocidade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1.1. Leitura do sentido de velocidade</a:t>
                </a:r>
              </a:p>
              <a:p>
                <a:pPr marL="457200" lvl="1" indent="0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pt-P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pt-P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pt-P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Neste caso, o disco roda no sentido </a:t>
                </a:r>
                <a:r>
                  <a:rPr lang="pt-PT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horário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                                 Neste caso, o disco roda no sentido </a:t>
                </a:r>
                <a:r>
                  <a:rPr lang="pt-PT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anti-horário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Houve uma subida de tensão do canal 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                                 Houve uma subida de tensão do canal 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</a:p>
              <a:p>
                <a:pPr marL="0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 relação ao canal 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                                                             antes do canal 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NOTA: O número máximo de voltas admitido pelo contador de posição é de 10 voltas. Caso contrário, este reinicializa e avisa o utilizador.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128A574B-20FC-5752-8784-AC28C177A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C6B048C9-6D6D-D781-153C-9F81A39E42EA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F162A46-402E-55BF-3BCD-BE60B72B22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107"/>
          <a:stretch>
            <a:fillRect/>
          </a:stretch>
        </p:blipFill>
        <p:spPr>
          <a:xfrm>
            <a:off x="1343246" y="2728608"/>
            <a:ext cx="2840135" cy="140078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EFB6D92-237B-07AA-2C77-A430FE2D96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86"/>
          <a:stretch>
            <a:fillRect/>
          </a:stretch>
        </p:blipFill>
        <p:spPr>
          <a:xfrm>
            <a:off x="6815330" y="2728607"/>
            <a:ext cx="2829974" cy="140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05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2DD47-0C1F-3CDC-2EF8-65427E19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EBE49-F28B-AA51-FA8A-EF1DAA9F7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EA5D451-D412-7F3E-327F-C03DA7763B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191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Medição da posição e velocidade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 Conversão do número de pulsos em velocidade e em posição angular</a:t>
                </a:r>
              </a:p>
              <a:p>
                <a:pPr marL="457200" lvl="1" indent="0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proceder ao cálculo da posição e da velocidade, será necessário definir uma interrupção do </a:t>
                </a:r>
                <a:r>
                  <a:rPr lang="pt-PT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timer 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 base em um período de amostragem (HW). Configurando de forma manual: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𝐼𝑅𝑄</m:t>
                          </m:r>
                        </m:sub>
                      </m:sSub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𝐶𝐿𝐾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𝑃𝑆𝐶</m:t>
                              </m:r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𝐴𝑅𝑅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𝐶𝐿𝐾</m:t>
                        </m:r>
                      </m:sub>
                    </m:sSub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frequência do </a:t>
                </a:r>
                <a:r>
                  <a:rPr lang="pt-PT" sz="12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clock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do respetivo </a:t>
                </a:r>
                <a:r>
                  <a:rPr lang="pt-PT" sz="12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timer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𝑃𝑆𝐶</m:t>
                    </m:r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permite reduzir a frequência do </a:t>
                </a:r>
                <a:r>
                  <a:rPr lang="pt-PT" sz="12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clock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do </a:t>
                </a:r>
                <a:r>
                  <a:rPr lang="pt-PT" sz="12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timer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𝐴𝑅𝑅</m:t>
                    </m:r>
                  </m:oMath>
                </a14:m>
                <a:r>
                  <a:rPr lang="pt-PT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define o período do PWM</a:t>
                </a:r>
                <a:endParaRPr lang="pt-PT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𝐼𝑅𝑄</m:t>
                        </m:r>
                      </m:sub>
                    </m:sSub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pt-PT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𝐼𝑅𝑄</m:t>
                            </m:r>
                          </m:sub>
                        </m:sSub>
                      </m:den>
                    </m:f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𝐼𝑅𝑄</m:t>
                        </m:r>
                      </m:sub>
                    </m:sSub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tempo entre interrupções</a:t>
                </a:r>
                <a:endPara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pt-P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EA5D451-D412-7F3E-327F-C03DA7763B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19143"/>
              </a:xfrm>
              <a:blipFill>
                <a:blip r:embed="rId2"/>
                <a:stretch>
                  <a:fillRect l="-638" t="-1410" b="-14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04188A63-EE52-F39C-EF2F-D79C580ACEE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37559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D8EB9-8FA0-66C7-E3A7-20973F21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72A86-31BD-6567-9D71-BE17BCDB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CA9EE90A-A026-9135-C030-32C41BC86A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Medição da posição e velocidade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 Conversão do número de pulsos em velocidade e em posição angular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Utilização do Timer 6 para a interrupção: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𝑃𝑆𝐶</m:t>
                    </m:r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= 6399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= 99</a:t>
                </a:r>
                <a:endParaRPr lang="pt-PT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𝑆𝑌𝑆𝐶𝐿𝐾</m:t>
                    </m:r>
                  </m:oMath>
                </a14:m>
                <a:r>
                  <a:rPr lang="pt-PT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= 64MHz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𝑇𝐼𝑀</m:t>
                        </m:r>
                        <m:r>
                          <a:rPr lang="pt-PT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= 64MHz</a:t>
                </a:r>
                <a:endParaRPr lang="pt-PT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𝑐𝑛𝑡</m:t>
                          </m:r>
                        </m:sub>
                      </m:sSub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64000000</m:t>
                          </m:r>
                        </m:num>
                        <m:den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6399</m:t>
                          </m:r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+1)</m:t>
                          </m:r>
                        </m:den>
                      </m:f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=10000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𝐻𝑧</m:t>
                      </m:r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𝑡𝑖𝑐𝑘</m:t>
                          </m:r>
                        </m:sub>
                      </m:sSub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10000</m:t>
                          </m:r>
                        </m:den>
                      </m:f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=100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𝑢𝑠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=0,1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𝑚𝑠</m:t>
                      </m:r>
                    </m:oMath>
                  </m:oMathPara>
                </a14:m>
                <a:endParaRPr lang="pt-PT" sz="1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1ms 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10 </a:t>
                </a:r>
                <a:r>
                  <a:rPr lang="pt-PT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ticks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pt-PT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pt-PT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CA9EE90A-A026-9135-C030-32C41BC86A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2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A83A6D3D-C5FA-16C5-D14D-FEA6AA2816EE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33216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91A28-598A-1F41-2F56-7753BE61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02B76-8A18-B90B-D1DE-3FF65FE0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9D5A55E-EB7F-3413-613C-AD27D95476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Medição da posição e velocidade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 Conversão do número de pulsos em velocidade e em posição angular</a:t>
                </a:r>
              </a:p>
              <a:p>
                <a:pPr marL="914400" lvl="2" indent="0">
                  <a:buNone/>
                </a:pPr>
                <a:r>
                  <a:rPr lang="pt-PT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1.2.1. Sinal gerado no osciloscópio (HW = 5ms e HW = 10ms)</a:t>
                </a:r>
                <a:endPara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pt-PT" sz="160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𝐴𝑅𝑅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𝐻𝑊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∗10−1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(10 ticks/ms)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pt-PT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HW = 5ms: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𝐴𝑅𝑅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=5∗10−1=49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𝐼𝑅𝑄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𝐴𝑅𝑅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𝑡𝑖𝑐𝑘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50 ∗100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𝑢𝑠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𝑚𝑠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pt-PT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𝐼𝑅𝑄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𝑚𝑠</m:t>
                        </m:r>
                      </m:den>
                    </m:f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00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𝐻𝑧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𝑜𝑛𝑑𝑎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P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𝐼𝑅𝑄</m:t>
                            </m:r>
                          </m:sub>
                        </m:sSub>
                      </m:num>
                      <m:den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200</m:t>
                        </m:r>
                      </m:num>
                      <m:den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𝐻𝑧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pt-PT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𝑜𝑛𝑑𝑎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𝑚𝑠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r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pt-PT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𝐴𝑅𝑅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𝐻𝑊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∗10−1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9D5A55E-EB7F-3413-613C-AD27D95476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10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B55AA179-5005-8816-9E83-7CDF5D1537A7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550E28-A2E2-4598-64ED-A25563DD4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5" t="6041" b="3815"/>
          <a:stretch>
            <a:fillRect/>
          </a:stretch>
        </p:blipFill>
        <p:spPr>
          <a:xfrm>
            <a:off x="7182104" y="2892335"/>
            <a:ext cx="4532376" cy="341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64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A6D0A-0314-0399-7D9D-205731CF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0D0D2-1BFE-22FB-A90F-3DFD5313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151E4B5B-F0C3-2712-F3F1-8D20D1EF07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Medição da posição e velocidade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 Conversão do número de pulsos em velocidade e em posição angular</a:t>
                </a:r>
              </a:p>
              <a:p>
                <a:pPr marL="914400" lvl="2" indent="0">
                  <a:buNone/>
                </a:pPr>
                <a:r>
                  <a:rPr lang="pt-PT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1.2.1. Sinal gerado no osciloscópio (HW = 5ms e HW = 10ms)</a:t>
                </a:r>
              </a:p>
              <a:p>
                <a:pPr marL="0" indent="0"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𝐴𝑅𝑅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𝐻𝑊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(10 ticks/ms)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pt-PT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HW = 10ms: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𝐴𝑅𝑅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99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𝐼𝑅𝑄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𝐴𝑅𝑅</m:t>
                        </m:r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𝑡𝑖𝑐𝑘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∗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𝑢𝑠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𝑚𝑠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pt-PT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𝐼𝑅𝑄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𝑚𝑠</m:t>
                        </m:r>
                      </m:den>
                    </m:f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𝐻𝑧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pt-PT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𝑜𝑛𝑑𝑎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P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𝐼𝑅𝑄</m:t>
                            </m:r>
                          </m:sub>
                        </m:sSub>
                      </m:num>
                      <m:den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num>
                      <m:den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50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𝐻𝑧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pt-PT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𝑜𝑛𝑑𝑎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𝑚𝑠</m:t>
                    </m:r>
                  </m:oMath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151E4B5B-F0C3-2712-F3F1-8D20D1EF0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B8925060-860F-DA20-8765-705D907100BE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9996E6-D583-A848-8E10-B9134D1FA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4" t="6668" r="3465" b="5796"/>
          <a:stretch>
            <a:fillRect/>
          </a:stretch>
        </p:blipFill>
        <p:spPr>
          <a:xfrm>
            <a:off x="7169150" y="2897733"/>
            <a:ext cx="4545330" cy="341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21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7442E-9F46-CA94-AE04-D0E65CAF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8AE22-12E3-6D01-D38E-B72B8EC0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EB56A40-8239-9F65-D1EA-EFC456024A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Medição da posição e velocidade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 Conversão do número de pulsos em velocidade e em posição angular</a:t>
                </a:r>
              </a:p>
              <a:p>
                <a:pPr marL="914400" lvl="2" indent="0">
                  <a:buNone/>
                </a:pPr>
                <a:r>
                  <a:rPr lang="pt-PT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1.2.2. Validação da leitura da velocidade</a:t>
                </a:r>
              </a:p>
              <a:p>
                <a:pPr marL="0" indent="0" algn="ctr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Valores obtidos:          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16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  <m:r>
                      <a:rPr lang="pt-PT" sz="16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pt-PT" sz="16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pt-PT" sz="16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pt-PT" sz="16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  <m:r>
                      <a:rPr lang="pt-PT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∗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num>
                      <m:den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960</m:t>
                        </m:r>
                      </m:den>
                    </m:f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;    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l-GR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num>
                      <m:den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960</m:t>
                        </m:r>
                      </m:den>
                    </m:f>
                  </m:oMath>
                </a14:m>
                <a:endParaRPr lang="pt-PT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EB56A40-8239-9F65-D1EA-EFC456024A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2EC68E36-EB9F-270D-562C-B219E4133C2B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834DC4F-B97A-E6DE-676D-DE9C9CD53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48247"/>
              </p:ext>
            </p:extLst>
          </p:nvPr>
        </p:nvGraphicFramePr>
        <p:xfrm>
          <a:off x="2032000" y="4001294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41858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1443824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54858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FREQUÊNCIA (Hz)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VELOCIDADE (rpm)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ω 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(rad/s)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18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0,655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55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31,25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16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75,00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7,85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032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47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D7E97-3014-D59D-66F3-BF01F658C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9588F-F7DE-C0BF-F4A8-A9F16FF9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94098AA-69A9-CC92-FC55-BCA60155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Medição da posição e velocidade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Conversão do número de pulsos em velocidade e em posição angular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1.2.2. Validação da leitura da velocidade</a:t>
            </a: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Frequência:          100Hz                                                       500Hz                                                         1000Hz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186F1D-7A10-0996-D2A6-188F8B6234DC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A3A98D-139F-5797-0EE1-40AB95AA0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10"/>
          <a:stretch>
            <a:fillRect/>
          </a:stretch>
        </p:blipFill>
        <p:spPr>
          <a:xfrm>
            <a:off x="4626864" y="3140682"/>
            <a:ext cx="2867650" cy="31675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BA26869-3A4A-F09C-F043-954CF2D1D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028" y="3429000"/>
            <a:ext cx="3446258" cy="254679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B9679B1-8CF3-2B3A-1736-F88F33B6F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17986"/>
            <a:ext cx="3407184" cy="168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94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2996-98CF-C1F2-31AF-C65F9AD42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6A667-DB1D-4399-A02D-C5193205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8FADA7B-12ED-04AD-6CB6-A6384BFD8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Medição da posição e velocidade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Conversão do número de pulsos em velocidade e em posição angular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1.2.3. Validação da leitura da posição angular</a:t>
            </a: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 obtidos:</a:t>
            </a:r>
            <a:endParaRPr lang="pt-PT" sz="16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AFE7AB3-5F72-727E-43A7-01731228DA34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ED55895-932A-C5A2-A7CE-4C0200281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53062"/>
              </p:ext>
            </p:extLst>
          </p:nvPr>
        </p:nvGraphicFramePr>
        <p:xfrm>
          <a:off x="1744471" y="4001294"/>
          <a:ext cx="870305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023">
                  <a:extLst>
                    <a:ext uri="{9D8B030D-6E8A-4147-A177-3AD203B41FA5}">
                      <a16:colId xmlns:a16="http://schemas.microsoft.com/office/drawing/2014/main" val="104185814"/>
                    </a:ext>
                  </a:extLst>
                </a:gridCol>
                <a:gridCol w="3043337">
                  <a:extLst>
                    <a:ext uri="{9D8B030D-6E8A-4147-A177-3AD203B41FA5}">
                      <a16:colId xmlns:a16="http://schemas.microsoft.com/office/drawing/2014/main" val="3914438242"/>
                    </a:ext>
                  </a:extLst>
                </a:gridCol>
                <a:gridCol w="3282697">
                  <a:extLst>
                    <a:ext uri="{9D8B030D-6E8A-4147-A177-3AD203B41FA5}">
                      <a16:colId xmlns:a16="http://schemas.microsoft.com/office/drawing/2014/main" val="2754858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ROTAÇÃO DO DISCO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LEITURA DA POSIÇÃO (rad)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LEITURA DA POSIÇÃO </a:t>
                      </a:r>
                      <a:r>
                        <a:rPr lang="el-GR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(graus)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18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180º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184,5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55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360º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6,30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360,75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16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-180º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-3,14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-179,72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032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160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5C0C-C2F9-CBD5-708C-3422C8E6C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B5115-533D-8223-3122-075E559A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2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D22316-FA1A-5D23-64E5-FF1DB3222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Medição da posição e velocidade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Conversão do número de pulsos em velocidade e em posição angular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1.2.3. Validação da leitura da posição angular</a:t>
            </a: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Rotação do disco: 180º                                                     360º                                                                -180º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FB379A-CB43-5967-F594-B7FE96748D05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4A66FAB-3297-135E-1D08-0A1CBD79F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83"/>
          <a:stretch>
            <a:fillRect/>
          </a:stretch>
        </p:blipFill>
        <p:spPr>
          <a:xfrm>
            <a:off x="8141179" y="3096095"/>
            <a:ext cx="2527071" cy="317296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9E82BC2-883B-95FE-7971-1542B353A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" t="33937" r="-1" b="-1506"/>
          <a:stretch>
            <a:fillRect/>
          </a:stretch>
        </p:blipFill>
        <p:spPr>
          <a:xfrm>
            <a:off x="838200" y="3096096"/>
            <a:ext cx="2414340" cy="317296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F0EC209-2E0D-36B5-D929-6D4B2E283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95"/>
          <a:stretch>
            <a:fillRect/>
          </a:stretch>
        </p:blipFill>
        <p:spPr>
          <a:xfrm>
            <a:off x="4404194" y="3096095"/>
            <a:ext cx="2585331" cy="317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03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223B-1623-03E4-E634-430663CFC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E3789-A00D-5368-9C73-C5ADEB96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3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605CED8-9586-22FB-7DE9-8E31170F0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Implementação do comando para um canal PWM bipolar e acionamento do motor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1.1. Cálculos para o PWM</a:t>
                </a:r>
              </a:p>
              <a:p>
                <a:pPr marL="457200" lvl="1" indent="0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1600"/>
                        <m:t>𝛿</m:t>
                      </m:r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𝐷𝐻</m:t>
                              </m:r>
                            </m:sub>
                          </m:s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100</m:t>
                      </m:r>
                    </m:oMath>
                  </m:oMathPara>
                </a14:m>
                <a:endParaRPr lang="pt-PT" sz="16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𝐷𝐻</m:t>
                          </m:r>
                        </m:sub>
                      </m:sSub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𝐷𝐿</m:t>
                          </m:r>
                        </m:sub>
                      </m:sSub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𝑃𝑊𝑀</m:t>
                          </m:r>
                        </m:sub>
                      </m:sSub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PT" sz="1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sz="16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PT" sz="1600"/>
                      <m:t>𝛿</m:t>
                    </m:r>
                    <m:r>
                      <a:rPr lang="pt-PT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duty cycle</a:t>
                </a:r>
                <a:endParaRPr lang="pt-PT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𝐷𝐻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período de tempo em estado alto</a:t>
                </a:r>
                <a:endParaRPr lang="pt-PT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período de tempo em estado baixo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soma dos dois períodos de tempo</a:t>
                </a: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605CED8-9586-22FB-7DE9-8E31170F0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B8D64CF4-BDD0-6334-3434-BEB9CC6E22F8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E9B69D4-C88D-9D86-22C1-3C2DB13C0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961" y="4663440"/>
            <a:ext cx="5821520" cy="164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81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D7D2-A48F-C69B-9AAA-0592505D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CAC6C-5085-9111-5FEE-088092D8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3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FF2DFE6B-7A64-EF74-B12A-362A35455C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Implementação do comando para um canal PWM bipolar e acionamento do motor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1.1. Cálculos para o PWM</a:t>
                </a:r>
              </a:p>
              <a:p>
                <a:pPr marL="457200" lvl="1" indent="0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𝑃𝑊𝑀</m:t>
                          </m:r>
                        </m:sub>
                      </m:sSub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𝐶𝐿𝐾</m:t>
                              </m:r>
                            </m:sub>
                          </m:sSub>
                        </m:num>
                        <m:den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𝑃𝑆𝐶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)+(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𝐴𝑅𝑅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PT" sz="16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𝐷𝑢𝑡𝑦𝐶𝑦𝑐𝑙𝑒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(%)=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𝐶𝐶𝑅</m:t>
                          </m:r>
                        </m:num>
                        <m:den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𝐴𝑅𝑅</m:t>
                          </m:r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100</m:t>
                      </m:r>
                    </m:oMath>
                  </m:oMathPara>
                </a14:m>
                <a:endParaRPr lang="pt-PT" sz="16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𝑃𝑊𝑀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frequência do PWM</a:t>
                </a:r>
                <a:endParaRPr lang="pt-PT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𝐶𝐿𝐾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frequência do </a:t>
                </a:r>
                <a:r>
                  <a:rPr lang="pt-PT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clock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do respetivo </a:t>
                </a:r>
                <a:r>
                  <a:rPr lang="pt-PT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timer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𝑃𝑆𝐶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permite reduzir a frequência do </a:t>
                </a:r>
                <a:r>
                  <a:rPr lang="pt-PT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clock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do </a:t>
                </a:r>
                <a:r>
                  <a:rPr lang="pt-PT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timer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𝐴𝑅𝑅</m:t>
                    </m:r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define o período do PWM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𝐶𝐶𝑅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define o tempo em que o sinal PWM permanece em nível alto</a:t>
                </a: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FF2DFE6B-7A64-EF74-B12A-362A35455C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F7EBB8D8-EB7E-390F-9DF7-D99716BA2284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615FE2F-9CF7-C15E-B282-CA5B26DC7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89237"/>
            <a:ext cx="4079240" cy="248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89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75EB0-D710-4A2E-1A00-9BC3D5E6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43A2-3BF2-89E2-4A94-97D385C6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5488"/>
            <a:ext cx="10515600" cy="712280"/>
          </a:xfrm>
        </p:spPr>
        <p:txBody>
          <a:bodyPr>
            <a:normAutofit/>
          </a:bodyPr>
          <a:lstStyle/>
          <a:p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dos objetivos – Avaliação Final</a:t>
            </a:r>
            <a:endParaRPr lang="pt-P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439F2A2-04F1-6627-E9E1-0696E6505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783"/>
            <a:ext cx="10515600" cy="530175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P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e determinação dos parâmetros do sistema a controlar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P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00000"/>
              </a:lnSpc>
              <a:buAutoNum type="arabicPeriod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Cálculo em simulação, do período de amostragem e dos parâmetros do controlador PID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Polos do sistema e representação no lugar de raízes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Cálculo do período de amostragem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 Determinação do parâmetro de ganho proporcional do modelo e resposta do sistema na posição desejada π/2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 Aplicação de uma perturbação externa – resposta do sistema e imunidade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Determinação dos parâmetros do controlador PI do modelo e resposta do sistema na posição desejada π/2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1.6. Aplicação de uma perturbação externa – resposta do sistema e imunidade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1.7. Determinação dos parâmetros do controlador PID do modelo e resposta do sistema na posição desejada π/2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pt-PT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1.7.1. Vantagens e desvantagens do uso do PID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1.8. Aplicação de uma perturbação externa – resposta do sistema e imunidade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pt-PT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1.8.1. Comparação em relação aos controladores P e PI</a:t>
            </a:r>
            <a:endParaRPr lang="pt-P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12496B5-24FE-8BCB-CFAE-CE07A296CFB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741915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A06F2-54EB-15DD-D85A-90932580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336CA-2082-170D-3CE1-8D74A20B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5488"/>
            <a:ext cx="10515600" cy="712280"/>
          </a:xfrm>
        </p:spPr>
        <p:txBody>
          <a:bodyPr>
            <a:normAutofit/>
          </a:bodyPr>
          <a:lstStyle/>
          <a:p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dos objetivos – Avaliação Final</a:t>
            </a:r>
            <a:endParaRPr lang="pt-P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516014B-FEF9-A395-D78E-BCCB0775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783"/>
            <a:ext cx="10515600" cy="530175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P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Resposta do controlador à entrada de um sinal retangular, com a ação proporcional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Resposta do controlador à entrada de um sinal retangular, com a ação integral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 Resposta do controlador à entrada de um sinal triangular, com a ação derivativa, sem filtragem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 Resposta do controlador à entrada de um sinal triangular, com a ação derivativa, com filtragem [a = 1/3]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Análise crítica da alteração dos valores na ação derivativa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pt-PT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1.5.1. a = 0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pt-PT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1.5.2. a = 2/3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pt-PT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1.5.3. a =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P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7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Avaliação experimental do controlador</a:t>
            </a:r>
          </a:p>
          <a:p>
            <a:pPr marL="0" indent="0">
              <a:lnSpc>
                <a:spcPct val="100000"/>
              </a:lnSpc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41783D-18F0-32C4-CDE6-5EE1A2AFEC2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215186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4F64-DA03-0472-8EB8-166C2FC4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1E97C-9986-A0B3-9851-BDBEF0E6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1758CBC7-DCAD-C1CF-48DF-D88F7B4DE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Análise e determinação dos parâmetros do sistema a controlar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modelo do motor CC é dado por: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𝑅𝑖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PT" sz="1600" i="1"/>
                            <m:t>𝜔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pt-PT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pt-PT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pt-PT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tensão de alimentação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corrente de armadura</a:t>
                </a:r>
                <a:endPara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PT" sz="1200" i="1"/>
                          <m:t>𝜔</m:t>
                        </m:r>
                      </m:e>
                      <m:sub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velocidade angular do eixo do motor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binário produzido pelo motor no seu eixo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pt-PT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resistência de armadura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pt-PT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constante eletromecânica do motor</a:t>
                </a:r>
                <a:endPara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1758CBC7-DCAD-C1CF-48DF-D88F7B4DE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2"/>
                <a:stretch>
                  <a:fillRect l="-638" t="-1359" b="-543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F28ADE4B-4ACB-6689-880E-A9AB87319700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020685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EA7B-09EB-307D-4BA8-C924DA8F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C2726-76C5-CB52-4A38-0601D5CF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6A73F483-48EF-606B-08C3-A78685763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Análise e determinação dos parâmetros do sistema a controlar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Determinação de </a:t>
                </a:r>
                <a14:m>
                  <m:oMath xmlns:m="http://schemas.openxmlformats.org/officeDocument/2006/math">
                    <m:r>
                      <a:rPr lang="pt-PT" sz="1600" i="1" u="sng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medição com um multímetro, diretamente aos terminais do motor, com tudo desligado.</a:t>
                </a:r>
                <a:endParaRPr lang="pt-PT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Foram realizadas várias medições, rodando ligeiramente o eixo para considerar diferentes posições angulares: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PT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PT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pt-PT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=5,62</m:t>
                    </m:r>
                    <m:r>
                      <m:rPr>
                        <m:nor/>
                      </m:rPr>
                      <a:rPr lang="pt-PT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pt-PT" sz="1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6A73F483-48EF-606B-08C3-A78685763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2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2F0D36F5-E5AE-926B-F57C-8508F69C0A2F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AAB7764-F86F-4369-EC07-84D6FF1A4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330888"/>
              </p:ext>
            </p:extLst>
          </p:nvPr>
        </p:nvGraphicFramePr>
        <p:xfrm>
          <a:off x="2553208" y="3662966"/>
          <a:ext cx="54186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41858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14438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RESISTÊNCIA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 MEDIDO (</a:t>
                      </a:r>
                      <a:r>
                        <a:rPr lang="pt-PT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Ω</a:t>
                      </a:r>
                      <a:r>
                        <a:rPr lang="pt-PT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18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55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16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03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8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494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796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A615-9891-5855-47B2-0C880BD3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D79BF-DBA1-511C-7912-B1D9EE50A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6316AF34-853E-6F19-2542-C34604A687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Análise e determinação dos parâmetros do sistema a controlar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Determinação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u="sng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 u="sng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pt-PT" sz="1600" b="0" i="1" u="sng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 motor foi alimentado com uma tensão constante, e foram medidas:</a:t>
                </a:r>
                <a:endParaRPr lang="pt-PT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- Tensão aplicada </a:t>
                </a:r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5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5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pt-PT" sz="15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);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Corrente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5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5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a:rPr lang="pt-PT" sz="15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após a velocidade se ter tornado constante, foi medida a corrente, colocando o multímetro em série com o motor;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Velocidade angular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5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PT" sz="1500" b="1"/>
                          <m:t>𝜔</m:t>
                        </m:r>
                      </m:e>
                      <m:sub>
                        <m:r>
                          <a:rPr lang="pt-PT" sz="1500" b="1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𝐚</m:t>
                        </m:r>
                      </m:sub>
                    </m:sSub>
                  </m:oMath>
                </a14:m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: a velocidade angular foi medida através do terminal, aplicando o comando de leitura contínua da velocidade.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Valor da velocidade angular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PT" sz="1600" b="1"/>
                          <m:t>𝜔</m:t>
                        </m:r>
                      </m:e>
                      <m:sub>
                        <m:r>
                          <a:rPr lang="pt-PT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𝐚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obtida no terminal: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Valores obtidos:</a:t>
                </a: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6316AF34-853E-6F19-2542-C34604A687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2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C8BA3D10-AB07-8894-50BB-CA640474810D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3D78392-FBB3-00D6-53E6-76109E104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012" y="4676118"/>
            <a:ext cx="2996184" cy="1915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DC85BC3A-01E5-1D7B-DE91-0BAEE2BD78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471375"/>
                  </p:ext>
                </p:extLst>
              </p:nvPr>
            </p:nvGraphicFramePr>
            <p:xfrm>
              <a:off x="1402426" y="5263166"/>
              <a:ext cx="399600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000">
                      <a:extLst>
                        <a:ext uri="{9D8B030D-6E8A-4147-A177-3AD203B41FA5}">
                          <a16:colId xmlns:a16="http://schemas.microsoft.com/office/drawing/2014/main" val="104185814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914438242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27548587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pt-PT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PT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e>
                                  <m:sub>
                                    <m:r>
                                      <a:rPr lang="pt-PT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PT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pt-PT" sz="1600" b="1">
                                        <a:solidFill>
                                          <a:schemeClr val="tx1"/>
                                        </a:solidFill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pt-PT" sz="16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PT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9118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5,99 V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0,38 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14,3270 rad/s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0556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DC85BC3A-01E5-1D7B-DE91-0BAEE2BD78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471375"/>
                  </p:ext>
                </p:extLst>
              </p:nvPr>
            </p:nvGraphicFramePr>
            <p:xfrm>
              <a:off x="1402426" y="5263166"/>
              <a:ext cx="399600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000">
                      <a:extLst>
                        <a:ext uri="{9D8B030D-6E8A-4147-A177-3AD203B41FA5}">
                          <a16:colId xmlns:a16="http://schemas.microsoft.com/office/drawing/2014/main" val="104185814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3914438242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27548587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7" t="-1613" r="-201370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917" t="-1613" r="-102294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1613" r="-1826" b="-1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9118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5,99 V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0,38 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14,3270 rad/s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0556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108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4B82-9D32-6636-362F-6499029A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95416-FA85-B9C2-1492-33A8095A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0158FD7-85CC-10F4-FB7E-3C2321765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Análise e determinação dos parâmetros do sistema a controlar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Cálculo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u="sng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 u="sng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pt-PT" sz="1600" b="0" i="1" u="sng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PT" sz="1600" i="1"/>
                                <m:t>𝜔</m:t>
                              </m:r>
                            </m:e>
                            <m:sub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5,99</m:t>
                          </m:r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5,62</m:t>
                          </m:r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0,38</m:t>
                          </m:r>
                        </m:num>
                        <m:den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14,3270</m:t>
                          </m:r>
                        </m:den>
                      </m:f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pt-PT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PT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𝟐𝟔𝟗𝟎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𝑵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</m:oMath>
                  </m:oMathPara>
                </a14:m>
                <a:endParaRPr lang="pt-PT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0158FD7-85CC-10F4-FB7E-3C2321765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2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665FB17C-DD48-87C6-C8D8-E19C146C3CD3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002306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F7C50-B3C0-6E3D-111E-C3B75F4A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072DA-E146-8C63-F0B9-C7361694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99B4D053-0821-0BBF-1D35-94F9ADF434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Análise e determinação dos parâmetros do sistema a controlar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Determinação de </a:t>
                </a:r>
                <a14:m>
                  <m:oMath xmlns:m="http://schemas.openxmlformats.org/officeDocument/2006/math">
                    <m:r>
                      <a:rPr lang="pt-PT" sz="1600" b="0" i="1" u="sng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pt-PT" sz="1600" i="1" u="sng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O motor foi alimentado com uma tensão constante, garantindo um funcionamento estável;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Aguardou-se até que a velocidade angular medida deixasse de variar significativamente ao longo do tempo;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:r>
                  <a:rPr lang="pt-PT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Durante este período, foram efetuadas as seguintes medições: </a:t>
                </a:r>
              </a:p>
              <a:p>
                <a:pPr marL="914400" lvl="2" indent="0">
                  <a:lnSpc>
                    <a:spcPct val="200000"/>
                  </a:lnSpc>
                  <a:buNone/>
                </a:pPr>
                <a:r>
                  <a:rPr lang="pt-PT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Corrente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a:rPr lang="pt-PT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PT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: medida com um multímetro, colocado em série com o motor;</a:t>
                </a:r>
              </a:p>
              <a:p>
                <a:pPr marL="914400" lvl="2" indent="0">
                  <a:lnSpc>
                    <a:spcPct val="200000"/>
                  </a:lnSpc>
                  <a:buNone/>
                </a:pPr>
                <a:r>
                  <a:rPr lang="pt-PT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Velocidade angular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PT" sz="1400" b="1"/>
                          <m:t>𝜔</m:t>
                        </m:r>
                      </m:e>
                      <m:sub>
                        <m:r>
                          <a:rPr lang="pt-PT" sz="14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𝐚</m:t>
                        </m:r>
                      </m:sub>
                    </m:sSub>
                  </m:oMath>
                </a14:m>
                <a:r>
                  <a:rPr lang="pt-PT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: lida no terminal.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:endParaRPr lang="pt-PT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99B4D053-0821-0BBF-1D35-94F9ADF434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2"/>
                <a:stretch>
                  <a:fillRect l="-638" t="-2038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9EB35FC0-7E19-4EAC-75C9-D1F741087174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485553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B864B-BDC7-A70A-59CD-1599322E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E442E-0111-C3BC-88E2-56E70145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19EE8CF-9C7A-07CE-E51D-7A3E7A7F05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Análise e determinação dos parâmetros do sistema a controlar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Cálculo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u="sng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600" i="1" u="sng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pt-PT" sz="1600" b="0" i="1" u="sng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pt-PT" sz="1600" i="1" u="sng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PT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14400" lvl="2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pt-PT" sz="16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2690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37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2690</m:t>
                      </m:r>
                      <m:r>
                        <a:rPr lang="pt-PT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37</m:t>
                      </m:r>
                    </m:oMath>
                  </m:oMathPara>
                </a14:m>
                <a:endParaRPr lang="pt-PT" sz="1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PT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pt-PT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  <m:d>
                        <m:dPr>
                          <m:ctrlPr>
                            <a:rPr lang="pt-PT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PT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  <m:r>
                        <a:rPr lang="pt-PT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𝟎𝟗𝟗𝟓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𝑵𝒎</m:t>
                      </m:r>
                    </m:oMath>
                  </m:oMathPara>
                </a14:m>
                <a:endParaRPr lang="pt-PT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19EE8CF-9C7A-07CE-E51D-7A3E7A7F0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2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5E9169BD-602A-522C-33B3-657047E91931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776710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306C7-C831-0827-77FF-FE443068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895FB-B13A-1B53-AC15-60811D30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40BA214-2E49-667A-87D7-D2A014202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Análise e determinação dos parâmetros do sistema a controlar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pt-PT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Cálculo de </a:t>
                </a:r>
                <a14:m>
                  <m:oMath xmlns:m="http://schemas.openxmlformats.org/officeDocument/2006/math">
                    <m:r>
                      <a:rPr lang="pt-PT" sz="1600" i="1" u="sng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pt-PT" sz="1600" i="1" u="sng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PT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14400" lvl="2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pt-PT" sz="16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PT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PT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pt-PT" sz="1600"/>
                                <m:t>𝜔</m:t>
                              </m:r>
                            </m:e>
                            <m:sub>
                              <m:r>
                                <a:rPr lang="pt-PT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PT" sz="1600"/>
                          <m:t>𝜔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𝑠𝑠</m:t>
                        </m:r>
                      </m:sub>
                    </m:sSub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=14,28 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𝑟𝑎𝑑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pt-PT" sz="1600" b="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PT" sz="1600" b="1"/>
                          <m:t>𝜔</m:t>
                        </m:r>
                      </m:e>
                      <m:sub>
                        <m:r>
                          <a:rPr lang="pt-PT" sz="1600" b="1" i="1" smtClean="0">
                            <a:latin typeface="Cambria Math" panose="02040503050406030204" pitchFamily="18" charset="0"/>
                          </a:rPr>
                          <m:t>𝒔𝒔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obtido no terminal:</a:t>
                </a:r>
              </a:p>
              <a:p>
                <a:pPr marL="914400" lvl="2" indent="0">
                  <a:lnSpc>
                    <a:spcPct val="110000"/>
                  </a:lnSpc>
                  <a:buNone/>
                </a:pPr>
                <a:endParaRPr lang="pt-PT" sz="16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914400" lvl="2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sz="16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pt-PT" sz="16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PT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0,0995</m:t>
                          </m:r>
                        </m:num>
                        <m:den>
                          <m:r>
                            <a:rPr lang="pt-PT" sz="1600" b="0" i="1" smtClean="0">
                              <a:latin typeface="Cambria Math" panose="02040503050406030204" pitchFamily="18" charset="0"/>
                            </a:rPr>
                            <m:t>14,28</m:t>
                          </m:r>
                        </m:den>
                      </m:f>
                    </m:oMath>
                  </m:oMathPara>
                </a14:m>
                <a:endParaRPr lang="pt-PT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914400" lvl="2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𝟎𝟎𝟔𝟗𝟖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𝑵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/(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𝒎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𝒔</m:t>
                      </m:r>
                      <m:r>
                        <a:rPr lang="pt-PT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pt-PT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PT" sz="16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40BA214-2E49-667A-87D7-D2A014202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2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C83AB806-C47D-C7A4-2D92-05718AD6315F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CD0ED07-735C-08A5-5C88-5173A41E5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768" y="3714409"/>
            <a:ext cx="3074000" cy="19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70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5A600-7407-03A1-962F-34C6AB6F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EF4DA-8613-D3A8-BC9C-6B4FD85E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4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4F78362-8D16-E18A-F7CE-CADB57B6E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Análise e determinação dos parâmetros do sistema a controlar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PT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Conclusão: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Através dos ensaios realizados, foi possível determinar experimentalmente os parâmetros do motor CC.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1600" i="1" dirty="0">
                <a:latin typeface="Cambria Math" panose="02040503050406030204" pitchFamily="18" charset="0"/>
                <a:cs typeface="Times New Roman" panose="02020603050405020304" pitchFamily="18" charset="0"/>
              </a:rPr>
              <a:t>                </a:t>
            </a:r>
          </a:p>
          <a:p>
            <a:pPr marL="0" indent="0">
              <a:lnSpc>
                <a:spcPct val="150000"/>
              </a:lnSpc>
              <a:buNone/>
            </a:pPr>
            <a:endParaRPr lang="pt-PT" sz="1600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pt-PT" sz="1600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pt-PT" sz="1600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pt-PT" sz="1600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Estes parâmetros são fundamentais para a modelação do sistema e foram utilizados posteriormente na implementação e simulação do sistema de controlo no Objetivo 5.                                                                                                                     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BB57057-A680-EF00-7D98-0B74E6803F8F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CA29961E-3327-B1AC-B60F-E07F8F56F7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1393737"/>
                  </p:ext>
                </p:extLst>
              </p:nvPr>
            </p:nvGraphicFramePr>
            <p:xfrm>
              <a:off x="2213355" y="3059462"/>
              <a:ext cx="776529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97378">
                      <a:extLst>
                        <a:ext uri="{9D8B030D-6E8A-4147-A177-3AD203B41FA5}">
                          <a16:colId xmlns:a16="http://schemas.microsoft.com/office/drawing/2014/main" val="104185814"/>
                        </a:ext>
                      </a:extLst>
                    </a:gridCol>
                    <a:gridCol w="3867912">
                      <a:extLst>
                        <a:ext uri="{9D8B030D-6E8A-4147-A177-3AD203B41FA5}">
                          <a16:colId xmlns:a16="http://schemas.microsoft.com/office/drawing/2014/main" val="39144382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 O CÁLCULO DE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PT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pt-PT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oMath>
                          </a14:m>
                          <a:endParaRPr lang="pt-PT" sz="1600" b="1" u="non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 O CÁLCULO DE </a:t>
                          </a:r>
                          <a14:m>
                            <m:oMath xmlns:m="http://schemas.openxmlformats.org/officeDocument/2006/math">
                              <m:r>
                                <a:rPr lang="pt-PT" sz="1600" b="1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oMath>
                          </a14:m>
                          <a:endParaRPr lang="pt-PT" sz="1600" b="1" u="non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9118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62</m:t>
                                </m:r>
                                <m:r>
                                  <m:rPr>
                                    <m:nor/>
                                  </m:rPr>
                                  <a:rPr lang="pt-PT" sz="1600" b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pt-PT" sz="16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0995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𝑁𝑚</m:t>
                                </m:r>
                              </m:oMath>
                            </m:oMathPara>
                          </a14:m>
                          <a:endParaRPr lang="pt-PT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055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38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pt-PT" sz="16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pt-PT" sz="1600" b="0" i="0">
                                        <a:solidFill>
                                          <a:schemeClr val="tx1"/>
                                        </a:solidFill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t-PT" sz="16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ss</m:t>
                                    </m:r>
                                  </m:sub>
                                </m:sSub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14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28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𝑟𝑎𝑑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PT" sz="16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4164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pt-PT" sz="1600" b="0" i="0">
                                        <a:solidFill>
                                          <a:schemeClr val="tx1"/>
                                        </a:solidFill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pt-PT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14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3270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𝑟𝑎𝑑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PT" sz="16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pt-PT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pt-PT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00698 </m:t>
                                </m:r>
                                <m:r>
                                  <m:rPr>
                                    <m:nor/>
                                  </m:rPr>
                                  <a:rPr lang="pt-PT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pt-PT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/(</m:t>
                                </m:r>
                                <m:r>
                                  <m:rPr>
                                    <m:nor/>
                                  </m:rPr>
                                  <a:rPr lang="pt-PT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nor/>
                                  </m:rPr>
                                  <a:rPr lang="pt-PT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pt-PT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pt-PT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PT" sz="16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30322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pt-PT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2690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a:rPr lang="pt-PT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pt-PT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PT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63179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CA29961E-3327-B1AC-B60F-E07F8F56F7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1393737"/>
                  </p:ext>
                </p:extLst>
              </p:nvPr>
            </p:nvGraphicFramePr>
            <p:xfrm>
              <a:off x="2213355" y="3059462"/>
              <a:ext cx="776529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97378">
                      <a:extLst>
                        <a:ext uri="{9D8B030D-6E8A-4147-A177-3AD203B41FA5}">
                          <a16:colId xmlns:a16="http://schemas.microsoft.com/office/drawing/2014/main" val="104185814"/>
                        </a:ext>
                      </a:extLst>
                    </a:gridCol>
                    <a:gridCol w="3867912">
                      <a:extLst>
                        <a:ext uri="{9D8B030D-6E8A-4147-A177-3AD203B41FA5}">
                          <a16:colId xmlns:a16="http://schemas.microsoft.com/office/drawing/2014/main" val="39144382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" t="-1639" r="-100156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787" t="-1639" r="-787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9118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" t="-101639" r="-100156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787" t="-101639" r="-787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055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" t="-198387" r="-100156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787" t="-198387" r="-787" b="-2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4164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" t="-303279" r="-100156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787" t="-303279" r="-787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30322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" t="-403279" r="-10015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PT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63179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20983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F45BF-9904-EC4C-BCE1-BE63FB8A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CB33C-429C-27AF-02F0-E1C6F4CE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594A059-B453-4039-8389-B57683352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Cálculo em simulação, do período de amostragem e dos parâmetros do controlador PID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Polos do sistema e representação no lugar de raízes</a:t>
            </a: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análise do sistema em malha aberta permitiu obter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polos do sistema contínuo.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Observou-se a existência de dois polos reais: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u</a:t>
            </a: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polo em s = -0,993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u</a:t>
            </a: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polo em s = 0</a:t>
            </a: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B63F98-E9EE-9B2C-12A9-0079551992CB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C3BAAE1-45DB-59C8-668D-C90FD9300F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667" y="2841984"/>
            <a:ext cx="5648133" cy="38355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53DC47E3-89FF-9CCA-3BFB-0BD72A3F51B2}"/>
                  </a:ext>
                </a:extLst>
              </p14:cNvPr>
              <p14:cNvContentPartPr/>
              <p14:nvPr/>
            </p14:nvContentPartPr>
            <p14:xfrm>
              <a:off x="6226632" y="4151016"/>
              <a:ext cx="622440" cy="2808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53DC47E3-89FF-9CCA-3BFB-0BD72A3F51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2992" y="4043376"/>
                <a:ext cx="7300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9A00C9E5-5855-3B7D-0E85-3968A148D677}"/>
                  </a:ext>
                </a:extLst>
              </p14:cNvPr>
              <p14:cNvContentPartPr/>
              <p14:nvPr/>
            </p14:nvContentPartPr>
            <p14:xfrm>
              <a:off x="10600480" y="4136976"/>
              <a:ext cx="622440" cy="2808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9A00C9E5-5855-3B7D-0E85-3968A148D6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46840" y="4029336"/>
                <a:ext cx="7300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D4431548-B402-43BF-18A3-105358E7CD14}"/>
                  </a:ext>
                </a:extLst>
              </p14:cNvPr>
              <p14:cNvContentPartPr/>
              <p14:nvPr/>
            </p14:nvContentPartPr>
            <p14:xfrm>
              <a:off x="8330112" y="2898216"/>
              <a:ext cx="77760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D4431548-B402-43BF-18A3-105358E7CD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76112" y="2790576"/>
                <a:ext cx="8852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3620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8E3C-4B79-B9CC-AFBF-B0AB2795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4A3AB-1689-4596-0901-216F62E3F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80B82D2C-4435-DF26-1E1F-A240D1034C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Cálculo em simulação, do período de amostragem e dos parâmetros do controlador PID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1.2. Cálculo do período de amostragem</a:t>
                </a:r>
              </a:p>
              <a:p>
                <a:pPr marL="0" indent="0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Neste sistema, o polo de maior módulo é o polo s = -0,993.</a:t>
                </a:r>
              </a:p>
              <a:p>
                <a:pPr marL="0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constante de tempo associada é, assim:</a:t>
                </a:r>
              </a:p>
              <a:p>
                <a:pPr marL="0" indent="0" algn="ctr">
                  <a:buNone/>
                </a:pPr>
                <a:r>
                  <a:rPr lang="pt-P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∣</m:t>
                        </m:r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pt-PT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∣</m:t>
                        </m:r>
                      </m:den>
                    </m:f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0.993</m:t>
                        </m:r>
                      </m:den>
                    </m:f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≈1.01</m:t>
                    </m:r>
                    <m:r>
                      <m:rPr>
                        <m:nor/>
                      </m:rPr>
                      <a:rPr lang="pt-PT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 </m:t>
                    </m:r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pt-PT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pt-PT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Utilizando cerca de 8 amostras por constante de tempo: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pt-PT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pt-P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PT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P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1.01</m:t>
                          </m:r>
                        </m:num>
                        <m:den>
                          <m:r>
                            <a:rPr lang="pt-P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PT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≈0.126</m:t>
                      </m:r>
                      <m:r>
                        <m:rPr>
                          <m:nor/>
                        </m:rPr>
                        <a:rPr lang="pt-PT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 </m:t>
                      </m:r>
                      <m:r>
                        <a:rPr lang="pt-PT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PT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pt-PT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Assim, o período de amostragem: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𝟏𝟐𝟔</m:t>
                      </m:r>
                      <m:r>
                        <m:rPr>
                          <m:nor/>
                        </m:rPr>
                        <a:rPr lang="pt-PT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 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m:rPr>
                          <m:nor/>
                        </m:rPr>
                        <a:rPr lang="pt-PT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 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𝟏𝟐𝟔</m:t>
                      </m:r>
                      <m:r>
                        <m:rPr>
                          <m:nor/>
                        </m:rPr>
                        <a:rPr lang="pt-PT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 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𝒎𝒔</m:t>
                      </m:r>
                      <m:r>
                        <a:rPr lang="pt-PT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PT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pt-PT"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80B82D2C-4435-DF26-1E1F-A240D1034C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3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A615E44F-50E0-9A90-40A0-FC2C30527148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96944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C1C7-FF14-41E1-9258-AA943308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A63A3-0B64-08AD-8A25-0C252657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99390DB-D35A-0656-D3B8-105B9436D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Cálculo em simulação, do período de amostragem e dos parâmetros do controlador PID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 Determinação do parâmetro de ganho proporcional do modelo e resposta do sistema na posição desejada π/2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C64E9A-97F9-88A3-D1EE-B6E2D5F83171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33EF15-75D1-E7CA-32BA-B17FB8B04F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6" t="24302" r="151"/>
          <a:stretch>
            <a:fillRect/>
          </a:stretch>
        </p:blipFill>
        <p:spPr bwMode="auto">
          <a:xfrm>
            <a:off x="3357372" y="2608987"/>
            <a:ext cx="5477256" cy="38838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95256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A3E9-14B3-037C-31C6-F64851915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439F8-E09F-4A2A-8443-9F258855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62B5C081-E929-EDDE-4F38-2D4525968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Cálculo em simulação, do período de amostragem e dos parâmetros do controlador PID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1.3. Determinação do parâmetro de ganho proporcional do modelo e resposta do sistema na posição desejada π/2</a:t>
                </a:r>
              </a:p>
              <a:p>
                <a:pPr marL="0" indent="0">
                  <a:buNone/>
                </a:pP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pt-PT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pt-PT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𝑟𝑜𝑝𝑜𝑟𝑐𝑖𝑜𝑛𝑎𝑙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)≈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2492</m:t>
                    </m:r>
                  </m:oMath>
                </a14:m>
                <a:endParaRPr lang="pt-PT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pt-PT"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62B5C081-E929-EDDE-4F38-2D4525968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3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0F298C2C-1A2B-A0D9-2353-A1576E198D40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602551-6AA0-7F1D-F4F9-DA472031DB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6" t="24302" r="151"/>
          <a:stretch>
            <a:fillRect/>
          </a:stretch>
        </p:blipFill>
        <p:spPr bwMode="auto">
          <a:xfrm>
            <a:off x="7068312" y="3269397"/>
            <a:ext cx="4285488" cy="303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0E62303-DBEC-069E-A232-3EE2679E05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89391"/>
            <a:ext cx="5235973" cy="381881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DA2E6DCB-F233-F70F-3D0D-BCB55C1004D1}"/>
              </a:ext>
            </a:extLst>
          </p:cNvPr>
          <p:cNvSpPr/>
          <p:nvPr/>
        </p:nvSpPr>
        <p:spPr>
          <a:xfrm>
            <a:off x="838200" y="3261360"/>
            <a:ext cx="2606040" cy="265430"/>
          </a:xfrm>
          <a:prstGeom prst="rect">
            <a:avLst/>
          </a:prstGeom>
          <a:noFill/>
          <a:ln w="2857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PT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915B74E-CF1E-3E87-4B54-B2C2B245CEF0}"/>
              </a:ext>
            </a:extLst>
          </p:cNvPr>
          <p:cNvSpPr/>
          <p:nvPr/>
        </p:nvSpPr>
        <p:spPr>
          <a:xfrm>
            <a:off x="838199" y="4918108"/>
            <a:ext cx="5235973" cy="265430"/>
          </a:xfrm>
          <a:prstGeom prst="rect">
            <a:avLst/>
          </a:prstGeom>
          <a:noFill/>
          <a:ln w="2857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6424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720CA0-B92D-392C-240A-AB0A27638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874"/>
            <a:ext cx="10515600" cy="965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 – Sem perturbação, o sistema com controlador proporcional apresentou uma resposta rápida com algum overshoot, estabilizando aproximadamente no valor de referência (≈ 1,5708 rad).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7D8DC1-ECF8-8D58-DC44-E84C05062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74" y="1489126"/>
            <a:ext cx="7788449" cy="3643313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A2F25F0B-4C56-6D44-6879-FCD3CDE2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</p:spTree>
    <p:extLst>
      <p:ext uri="{BB962C8B-B14F-4D97-AF65-F5344CB8AC3E}">
        <p14:creationId xmlns:p14="http://schemas.microsoft.com/office/powerpoint/2010/main" val="14524857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F971-E99A-F9F6-ED2C-104C1015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3AFB5A1-D7AF-1D3D-9F41-D14365F22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7910"/>
            <a:ext cx="10515600" cy="965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 – Com perturbação de 0,02, o sistema com controlador proporcional </a:t>
            </a:r>
            <a:r>
              <a:rPr lang="pt-PT" sz="1600" dirty="0"/>
              <a:t>teve um desvio significativo da posição. Como o controlador proporcional não consegue compensar totalmente perturbações constantes, o sistema estabiliza num valor diferente da referência.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Assim, verificou-se que </a:t>
            </a:r>
            <a:r>
              <a:rPr lang="pt-PT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 foi imune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perturbação.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8D1BF8-871F-D9E2-0A45-E6E3C3BF9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066" y="1459655"/>
            <a:ext cx="7790400" cy="366271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FA3E305-E6DB-E987-841A-9205B4B8D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</p:spTree>
    <p:extLst>
      <p:ext uri="{BB962C8B-B14F-4D97-AF65-F5344CB8AC3E}">
        <p14:creationId xmlns:p14="http://schemas.microsoft.com/office/powerpoint/2010/main" val="1064561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6C37-7F01-7955-D913-314C87F3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B46A5-F43A-20F0-2DE0-0A7944B1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9891589-8FF6-A4E7-CAA0-69FB385BC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Cálculo em simulação, do período de amostragem e dos parâmetros do controlador PID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Determinação dos parâmetros do controlador PI do modelo e resposta do sistema na posição desejada π/2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E7F3D13-8AE4-D735-3738-871B715F1E0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B71990-9E8E-B560-8AF1-BBC8EFD6B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9" t="1776" b="4449"/>
          <a:stretch>
            <a:fillRect/>
          </a:stretch>
        </p:blipFill>
        <p:spPr bwMode="auto">
          <a:xfrm>
            <a:off x="3357372" y="2608987"/>
            <a:ext cx="5477256" cy="38838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30828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CFFB-851B-BEA9-4356-B9DCD4B2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408D3-287D-194F-90D7-C7D4A4505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963FA20-756F-D4FE-225B-76B686CCEF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Cálculo em simulação, do período de amostragem e dos parâmetros do controlador PID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1.5. Determinação dos parâmetros do controlador PI do modelo e resposta do sistema na posição desejada π/2</a:t>
                </a:r>
              </a:p>
              <a:p>
                <a:pPr marL="0" indent="0" algn="ctr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</a:t>
                </a:r>
              </a:p>
              <a:p>
                <a:pPr marL="0" indent="0" algn="ctr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𝑃𝑟𝑜𝑝𝑜𝑟𝑐𝑖𝑜𝑛𝑎𝑙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)≈0,1257</m:t>
                    </m:r>
                  </m:oMath>
                </a14:m>
                <a:r>
                  <a:rPr lang="pt-PT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;  </a:t>
                </a:r>
                <a14:m>
                  <m:oMath xmlns:m="http://schemas.openxmlformats.org/officeDocument/2006/math"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𝐼𝑛𝑡𝑒𝑔𝑟𝑎𝑙</m:t>
                    </m:r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)≈0,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0081</m:t>
                    </m:r>
                  </m:oMath>
                </a14:m>
                <a:endParaRPr lang="pt-PT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pt-PT"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963FA20-756F-D4FE-225B-76B686CCEF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3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54956E9E-C031-A4C0-A799-89143FBD28DB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1BD7AC-8843-F3C7-3E6A-AB4EDBCB7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9" t="1776" b="4449"/>
          <a:stretch>
            <a:fillRect/>
          </a:stretch>
        </p:blipFill>
        <p:spPr bwMode="auto">
          <a:xfrm>
            <a:off x="7068894" y="3269809"/>
            <a:ext cx="4284906" cy="30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1A3282A-FF7B-B3F4-E435-2E1057942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89391"/>
            <a:ext cx="5235972" cy="381881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367C75CC-B789-BE35-7C42-63EDD12DAA75}"/>
              </a:ext>
            </a:extLst>
          </p:cNvPr>
          <p:cNvSpPr/>
          <p:nvPr/>
        </p:nvSpPr>
        <p:spPr>
          <a:xfrm>
            <a:off x="838199" y="2645664"/>
            <a:ext cx="2563369" cy="210566"/>
          </a:xfrm>
          <a:prstGeom prst="rect">
            <a:avLst/>
          </a:prstGeom>
          <a:noFill/>
          <a:ln w="2857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61F8FC-14E9-158A-9933-20FD60298B3E}"/>
              </a:ext>
            </a:extLst>
          </p:cNvPr>
          <p:cNvSpPr/>
          <p:nvPr/>
        </p:nvSpPr>
        <p:spPr>
          <a:xfrm>
            <a:off x="860027" y="4449504"/>
            <a:ext cx="2541541" cy="433392"/>
          </a:xfrm>
          <a:prstGeom prst="rect">
            <a:avLst/>
          </a:prstGeom>
          <a:noFill/>
          <a:ln w="2857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6156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ABEB-B590-07EE-02CD-A89B7AC46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9BFBF93-0778-6054-FE90-BDE762060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527009"/>
            <a:ext cx="10515600" cy="965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PI – Sem perturbação, o sistema com controlador proporcional integral </a:t>
            </a:r>
            <a:r>
              <a:rPr lang="pt-PT" sz="1600" dirty="0"/>
              <a:t>acompanha a referência, com algum overshoot, mas elimina praticamente o erro em regime permanente.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814FD56-954B-2384-8A69-35AB64AA7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5AF62C9-475A-5B4B-4A3E-02E382D8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771" y="1524512"/>
            <a:ext cx="7538457" cy="36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47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66AB-44DF-AEE5-CB83-FF4F372E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677D4A4-AD11-6C84-6CF4-1FB97700E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527009"/>
            <a:ext cx="10515600" cy="965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PI – Com perturbação, o controlador PI </a:t>
            </a:r>
            <a:r>
              <a:rPr lang="pt-PT" sz="1600" dirty="0"/>
              <a:t>apresenta maior overshoot e uma resposta mais lenta, mas mostra capacidade para compensar o efeito da perturbação, aproximando novamente o sistema do valor de  referência, </a:t>
            </a:r>
            <a:r>
              <a:rPr lang="pt-PT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eliminando o erro em regime permanente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2B3A7BD-D551-5776-EDA2-F450AFB90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C4D5B9C-C748-B71F-4A99-B4D4E0FA7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720" y="1435552"/>
            <a:ext cx="7780557" cy="36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78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0992-854D-D878-776C-A66FC960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0639C-A407-1D65-1B0F-D5C5C914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25A5C47-38A8-556B-B369-34C3EE79A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Cálculo em simulação, do período de amostragem e dos parâmetros do controlador PID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1.7. Determinação dos parâmetros do controlador PID do modelo e resposta do sistema na posição desejada π/2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DA8DFE-9199-A21A-331D-17D9D2F0953F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84297F-F1C5-C51C-4B68-0C77B0D24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1" b="4561"/>
          <a:stretch>
            <a:fillRect/>
          </a:stretch>
        </p:blipFill>
        <p:spPr bwMode="auto">
          <a:xfrm>
            <a:off x="3357372" y="2608987"/>
            <a:ext cx="5477256" cy="38838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601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16C63-7A51-396D-6EC9-6CAAC257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ABF9-46A4-1872-C78B-FFA20347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7123F25-51D5-9D64-7571-49B4CD933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Cálculo em simulação, do período de amostragem e dos parâmetros do controlador PID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1.7. Determinação dos parâmetros do controlador PID do modelo e resposta do sistema na posição desejada π/2</a:t>
                </a:r>
              </a:p>
              <a:p>
                <a:pPr marL="0" indent="0" algn="ctr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</a:t>
                </a:r>
              </a:p>
              <a:p>
                <a:pPr marL="0" indent="0" algn="ctr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𝑃𝑟𝑜𝑝𝑜𝑟𝑐𝑖𝑜𝑛𝑎𝑙</m:t>
                    </m:r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)≈1,0795</m:t>
                    </m:r>
                  </m:oMath>
                </a14:m>
                <a:r>
                  <a:rPr lang="pt-PT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;  </a:t>
                </a:r>
                <a14:m>
                  <m:oMath xmlns:m="http://schemas.openxmlformats.org/officeDocument/2006/math"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𝐼𝑛𝑡𝑒𝑔𝑟𝑎𝑙</m:t>
                    </m:r>
                    <m:r>
                      <a:rPr lang="pt-PT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pt-PT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)≈0,</m:t>
                    </m:r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2028</m:t>
                    </m:r>
                  </m:oMath>
                </a14:m>
                <a:r>
                  <a:rPr lang="pt-PT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; Derivative</a:t>
                </a:r>
                <a14:m>
                  <m:oMath xmlns:m="http://schemas.openxmlformats.org/officeDocument/2006/math">
                    <m:r>
                      <a:rPr lang="pt-PT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pt-PT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)≈0,</m:t>
                    </m:r>
                    <m:r>
                      <a:rPr lang="pt-P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8423</m:t>
                    </m:r>
                  </m:oMath>
                </a14:m>
                <a:r>
                  <a:rPr lang="pt-PT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pt-PT"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7123F25-51D5-9D64-7571-49B4CD933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82585"/>
              </a:xfrm>
              <a:blipFill>
                <a:blip r:embed="rId3"/>
                <a:stretch>
                  <a:fillRect l="-638" t="-135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2D36C953-3CD5-0E81-8862-FFE39BB8F5CE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F567EC-CE06-351D-868B-7CFBC0C80A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1" b="4561"/>
          <a:stretch>
            <a:fillRect/>
          </a:stretch>
        </p:blipFill>
        <p:spPr bwMode="auto">
          <a:xfrm>
            <a:off x="7068894" y="3269809"/>
            <a:ext cx="4284906" cy="30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4FADA74-274C-3B31-28F6-6DCC77E03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88990"/>
            <a:ext cx="5235972" cy="38192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B82553A0-1DAC-EA98-0445-83A270A94659}"/>
              </a:ext>
            </a:extLst>
          </p:cNvPr>
          <p:cNvSpPr/>
          <p:nvPr/>
        </p:nvSpPr>
        <p:spPr>
          <a:xfrm>
            <a:off x="838198" y="3222244"/>
            <a:ext cx="2563369" cy="210566"/>
          </a:xfrm>
          <a:prstGeom prst="rect">
            <a:avLst/>
          </a:prstGeom>
          <a:noFill/>
          <a:ln w="2857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PT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B62C0B3-8B18-CE2F-E92E-F8A6F18E684F}"/>
              </a:ext>
            </a:extLst>
          </p:cNvPr>
          <p:cNvSpPr/>
          <p:nvPr/>
        </p:nvSpPr>
        <p:spPr>
          <a:xfrm>
            <a:off x="838199" y="5071110"/>
            <a:ext cx="2563369" cy="601980"/>
          </a:xfrm>
          <a:prstGeom prst="rect">
            <a:avLst/>
          </a:prstGeom>
          <a:noFill/>
          <a:ln w="2857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25977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362BC-E437-B580-D51F-583FC3CC8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B62580E-4221-5B8A-C7C6-4A8797D10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527009"/>
            <a:ext cx="10515600" cy="965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PID – Sem perturbação, o controlador PID apresenta uma resposta rápida, com overshoot reduzido e estabilização no valor de referência, sem erro em regime permanente.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E7F29A6-94BE-E218-F971-15F165BD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3C97F9D-493D-83CB-69F7-A7B5AD743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024" y="1393046"/>
            <a:ext cx="7771950" cy="36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497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77FA-3C9A-85D4-BD98-304ACB20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9F4F4BC-147D-967F-8C77-FEE830B15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27009"/>
            <a:ext cx="10515600" cy="965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PID – Com perturbação, o sistema apresenta um desvio transitório, sendo rapidamente compensado pelo controlador PID, que conduz a resposta novamente para o valor de referência.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5CB6D56-4D29-05E1-829E-F9457126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8EE68B-2943-BCD5-1088-F3598A1B1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74" y="1337867"/>
            <a:ext cx="7912649" cy="36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931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4E4E-8FBB-C759-5B82-E922961C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4CE08-F548-D1C8-E90E-ABA8780EE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0DD7CFB-D049-B744-5260-14CD1D068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Cálculo em simulação, do período de amostragem e dos parâmetros do controlador PID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1.7. Determinação dos parâmetros do controlador PID do modelo e resposta do sistema na posição desejada π/2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1.7.1. Vantagens e desvantagens do uso do PID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controlador PID apresenta diversas vantagens, nomeadamente a </a:t>
            </a:r>
            <a:r>
              <a:rPr lang="pt-PT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eliminação do erro em regime permanente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capacidade de rejeitar perturbações externas e melhoria do comportamento transitório. Apresenta assim, uma </a:t>
            </a:r>
            <a:r>
              <a:rPr lang="pt-PT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resposta mais rápida e estável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entanto, apresenta também algumas desvantagens, é </a:t>
            </a:r>
            <a:r>
              <a:rPr lang="pt-PT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mais complexo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 sintonia dos parâmetros, é sensível ao ruído devido à ação derivativa, e pode existir </a:t>
            </a:r>
            <a:r>
              <a:rPr lang="pt-PT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instabilidade,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não for corretamente ajustado.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0988F6-EEE3-2178-EBA8-18FD3FF8344E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3027448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30729-8794-B0D9-4931-E45D3E7FE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C7548-8178-4B18-E16A-EFF8DDED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5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6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D8B0C9-523D-5FB9-5598-540B766B0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Cálculo em simulação, do período de amostragem e dos parâmetros do controlador PID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1.8. Aplicação de uma perturbação externa – resposta do sistema e imunidade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1.8.1. Comparação em relação aos controladores P e PI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apresenta uma resposta relativamente rápida, mas não consegue eliminar o erro em regime permanente, nem rejeitar perturbações externas.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PI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melhora significativamente o desempenho. Elimina o erro em regime permanente, tornando-se imune a perturbações. Contudo, apresenta uma resposta mais lenta e um maior </a:t>
            </a:r>
            <a:r>
              <a:rPr lang="pt-P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overshoot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PID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permite eliminar o erro em regime permanente, rejeitar perturbações externas e, melhorar o comportamento transitório, apresentando uma resposta mais rápida e estável.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Sendo assim, este controlador (PID) o que apresenta um melhor desempenho global.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0E5FA0-5CB4-20E8-8398-C720A35B77ED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854113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0EBD-4ED5-155D-B52C-2AD4064F1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358E0-0F23-963A-FE67-15E50C06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2CAFC4B-5838-7296-1A65-838ED1D0E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Resposta do controlador à entrada de um sinal retangular, com a ação proporcional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Valores no terminal</a:t>
            </a: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274BE7-C8CC-4E58-58BD-E80DFB5AC958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B4B9A07C-54C5-DC75-95DC-FA9275DE0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287462"/>
              </p:ext>
            </p:extLst>
          </p:nvPr>
        </p:nvGraphicFramePr>
        <p:xfrm>
          <a:off x="5337471" y="2618569"/>
          <a:ext cx="5961452" cy="3531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7073356-27A8-D05E-FD08-E35C0AA742A3}"/>
              </a:ext>
            </a:extLst>
          </p:cNvPr>
          <p:cNvGrpSpPr/>
          <p:nvPr/>
        </p:nvGrpSpPr>
        <p:grpSpPr>
          <a:xfrm>
            <a:off x="838200" y="2618569"/>
            <a:ext cx="2615274" cy="1197829"/>
            <a:chOff x="1079159" y="2869087"/>
            <a:chExt cx="2615274" cy="1197829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D54B5FE2-56FC-4515-D57B-8543FF343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9159" y="2869087"/>
              <a:ext cx="2615274" cy="1197829"/>
            </a:xfrm>
            <a:prstGeom prst="rect">
              <a:avLst/>
            </a:prstGeom>
            <a:ln w="9525">
              <a:noFill/>
            </a:ln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CA62ADA5-185A-309E-340F-F5C6F0A75E10}"/>
                    </a:ext>
                  </a:extLst>
                </p14:cNvPr>
                <p14:cNvContentPartPr/>
                <p14:nvPr/>
              </p14:nvContentPartPr>
              <p14:xfrm>
                <a:off x="1134036" y="3468001"/>
                <a:ext cx="777600" cy="36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CA62ADA5-185A-309E-340F-F5C6F0A75E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0036" y="3360001"/>
                  <a:ext cx="885240" cy="21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55424C40-6D8B-96AD-EAB8-7E4B4296FD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4154" y="2618570"/>
            <a:ext cx="1144907" cy="387428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D665855-A93F-FA8F-F53C-F71FF129FD76}"/>
              </a:ext>
            </a:extLst>
          </p:cNvPr>
          <p:cNvSpPr txBox="1"/>
          <p:nvPr/>
        </p:nvSpPr>
        <p:spPr>
          <a:xfrm>
            <a:off x="367080" y="4609343"/>
            <a:ext cx="35575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controlador proporcional gera um sinal de comando diretamente proporcional ao erro. Assim, para uma entrada retangular, apresenta variações bruscas, refletindo a resposta imediata do sistema às mudanças da referência.</a:t>
            </a:r>
          </a:p>
        </p:txBody>
      </p:sp>
    </p:spTree>
    <p:extLst>
      <p:ext uri="{BB962C8B-B14F-4D97-AF65-F5344CB8AC3E}">
        <p14:creationId xmlns:p14="http://schemas.microsoft.com/office/powerpoint/2010/main" val="26503196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B56CB-F41E-3B08-CA7A-A2CA64AD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BB081-2AE2-E5AA-9F75-68F3DE94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52428C4-E702-018F-C34E-3AF0386DA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Resposta do controlador à entrada de um sinal retangular, com a ação integral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Valores no terminal</a:t>
            </a: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07ADB5-D4A6-DD5C-C062-5FEC15F1CC1E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F7C16D-FBC1-7E60-F6DC-7F0F796F3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77" y="2618569"/>
            <a:ext cx="2615273" cy="1197829"/>
          </a:xfrm>
          <a:prstGeom prst="rect">
            <a:avLst/>
          </a:prstGeom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02B5A523-65C5-FA5A-9183-EB9FB1FFFCD4}"/>
                  </a:ext>
                </a:extLst>
              </p14:cNvPr>
              <p14:cNvContentPartPr/>
              <p14:nvPr/>
            </p14:nvContentPartPr>
            <p14:xfrm>
              <a:off x="954037" y="3386730"/>
              <a:ext cx="77760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02B5A523-65C5-FA5A-9183-EB9FB1FFFC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0037" y="3278730"/>
                <a:ext cx="88524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7310F638-EF7D-69F4-7B4A-9E893F8A3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9030" y="2618569"/>
            <a:ext cx="1004722" cy="3965111"/>
          </a:xfrm>
          <a:prstGeom prst="rect">
            <a:avLst/>
          </a:prstGeom>
        </p:spPr>
      </p:pic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ADAAF22-EFCB-6F17-318D-21A4509396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3707995"/>
              </p:ext>
            </p:extLst>
          </p:nvPr>
        </p:nvGraphicFramePr>
        <p:xfrm>
          <a:off x="5593615" y="2622561"/>
          <a:ext cx="5565648" cy="3796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65631762-BF59-7A8B-4E60-AFE30A68B514}"/>
              </a:ext>
            </a:extLst>
          </p:cNvPr>
          <p:cNvSpPr txBox="1"/>
          <p:nvPr/>
        </p:nvSpPr>
        <p:spPr>
          <a:xfrm>
            <a:off x="583306" y="4460960"/>
            <a:ext cx="323481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ação integral gera um sinal de comando que resulta da acumulação do erro ao longo do tempo, originando uma resposta suave e contínua, com variação em rampa.</a:t>
            </a:r>
          </a:p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 explica porque o controlador PI elimina o erro mas pode ser mais lento.</a:t>
            </a:r>
          </a:p>
        </p:txBody>
      </p:sp>
    </p:spTree>
    <p:extLst>
      <p:ext uri="{BB962C8B-B14F-4D97-AF65-F5344CB8AC3E}">
        <p14:creationId xmlns:p14="http://schemas.microsoft.com/office/powerpoint/2010/main" val="24162038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0027-E7D1-FBBC-B036-16D33045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16D88-A032-B161-CA17-D9CCBE36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EFD05B-B0B7-9A8B-AEE3-D1AE19921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 Resposta do controlador à entrada de um sinal triangular, com a ação derivativa, sem filtragem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Valores no terminal</a:t>
            </a: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5DA4F4-FA12-2933-A570-8D3BBB5C657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5A03EA-B87C-69E5-C1CC-A3DA4C85D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18569"/>
            <a:ext cx="2647350" cy="1198800"/>
          </a:xfrm>
          <a:prstGeom prst="rect">
            <a:avLst/>
          </a:prstGeom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8E182999-1D69-8170-36E5-429099CAFB18}"/>
                  </a:ext>
                </a:extLst>
              </p14:cNvPr>
              <p14:cNvContentPartPr/>
              <p14:nvPr/>
            </p14:nvContentPartPr>
            <p14:xfrm>
              <a:off x="917461" y="3511296"/>
              <a:ext cx="777600" cy="36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8E182999-1D69-8170-36E5-429099CAFB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3461" y="3403296"/>
                <a:ext cx="88524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Imagem 9">
            <a:extLst>
              <a:ext uri="{FF2B5EF4-FFF2-40B4-BE49-F238E27FC236}">
                <a16:creationId xmlns:a16="http://schemas.microsoft.com/office/drawing/2014/main" id="{12C9D1A2-C71E-7586-559D-64AE20982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829" y="2622560"/>
            <a:ext cx="997631" cy="3796538"/>
          </a:xfrm>
          <a:prstGeom prst="rect">
            <a:avLst/>
          </a:prstGeom>
        </p:spPr>
      </p:pic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9481F571-3834-54FB-2483-C6FA441A4D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9731412"/>
              </p:ext>
            </p:extLst>
          </p:nvPr>
        </p:nvGraphicFramePr>
        <p:xfrm>
          <a:off x="5778661" y="2626393"/>
          <a:ext cx="5575139" cy="3816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7E251640-E88D-3164-F518-0CF8412CEA07}"/>
              </a:ext>
            </a:extLst>
          </p:cNvPr>
          <p:cNvSpPr txBox="1"/>
          <p:nvPr/>
        </p:nvSpPr>
        <p:spPr>
          <a:xfrm>
            <a:off x="278997" y="4646216"/>
            <a:ext cx="376575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controlador derivativo reage à variação do erro, originando um sinal de comando constante durante as rampas do sinal triangular.</a:t>
            </a:r>
          </a:p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 explica porque o controlo derivativo reduz o overshoot e melhora a estabilidade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551000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951D-022D-A41D-606A-F891ACBED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5F307-2E54-29B1-6A3F-55AA5C8F6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B2A3E04-F80C-A52A-7DB9-A11A47B3B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 Resposta do controlador à entrada de um sinal triangular, com a ação derivativa, com filtragem [a = 1/3]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Valores no terminal</a:t>
            </a: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8D4498-BE12-BC92-2F30-5B3EA7C3846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11A179-848D-7CE6-D1E8-F0A828A08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22560"/>
            <a:ext cx="2518425" cy="1198800"/>
          </a:xfrm>
          <a:prstGeom prst="rect">
            <a:avLst/>
          </a:prstGeom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60A8E9D9-D9E8-8DDF-3219-48DFD9B02523}"/>
                  </a:ext>
                </a:extLst>
              </p14:cNvPr>
              <p14:cNvContentPartPr/>
              <p14:nvPr/>
            </p14:nvContentPartPr>
            <p14:xfrm>
              <a:off x="902221" y="3485896"/>
              <a:ext cx="77760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60A8E9D9-D9E8-8DDF-3219-48DFD9B025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8221" y="3377896"/>
                <a:ext cx="885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D51EC0A7-EF2A-7142-5D4C-27413D324C16}"/>
                  </a:ext>
                </a:extLst>
              </p14:cNvPr>
              <p14:cNvContentPartPr/>
              <p14:nvPr/>
            </p14:nvContentPartPr>
            <p14:xfrm>
              <a:off x="897141" y="3704248"/>
              <a:ext cx="1266120" cy="72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D51EC0A7-EF2A-7142-5D4C-27413D324C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3141" y="3488248"/>
                <a:ext cx="137376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Imagem 13">
            <a:extLst>
              <a:ext uri="{FF2B5EF4-FFF2-40B4-BE49-F238E27FC236}">
                <a16:creationId xmlns:a16="http://schemas.microsoft.com/office/drawing/2014/main" id="{5BED87EE-D1C8-2C0E-ABA1-82B294CBA4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6995" y="2622560"/>
            <a:ext cx="1041893" cy="3832053"/>
          </a:xfrm>
          <a:prstGeom prst="rect">
            <a:avLst/>
          </a:prstGeom>
        </p:spPr>
      </p:pic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4084672B-E201-F08E-4DE1-7A27BE4D00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494137"/>
              </p:ext>
            </p:extLst>
          </p:nvPr>
        </p:nvGraphicFramePr>
        <p:xfrm>
          <a:off x="5359530" y="2622560"/>
          <a:ext cx="5930249" cy="401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C6F2F3C1-7B69-96D8-E049-AA941D22C7AE}"/>
              </a:ext>
            </a:extLst>
          </p:cNvPr>
          <p:cNvSpPr txBox="1"/>
          <p:nvPr/>
        </p:nvSpPr>
        <p:spPr>
          <a:xfrm>
            <a:off x="578607" y="4684696"/>
            <a:ext cx="3037609" cy="1363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introdução de um filtro passa-baixo na ação derivativa permite suavizar o sinal de comando, reduzindo variações bruscas e tornando a resposta mais estável.</a:t>
            </a:r>
          </a:p>
        </p:txBody>
      </p:sp>
    </p:spTree>
    <p:extLst>
      <p:ext uri="{BB962C8B-B14F-4D97-AF65-F5344CB8AC3E}">
        <p14:creationId xmlns:p14="http://schemas.microsoft.com/office/powerpoint/2010/main" val="16435835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29DEC-41E9-6D5A-4C5B-869F892C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508EA-8F96-6BC3-0654-963E10F0E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104E41E-4B9E-BFA3-4FB3-FC813CCD1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Análise crítica da alteração dos valores na ação derivativa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1.5.1. a = 0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Valores no terminal</a:t>
            </a: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88317D-0E6E-FB7A-9703-B21693266EA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F2AAD5-1DE2-48CA-A5E8-AB78E1697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29600"/>
            <a:ext cx="2707862" cy="1198800"/>
          </a:xfrm>
          <a:prstGeom prst="rect">
            <a:avLst/>
          </a:prstGeom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51A96385-F385-6AE3-CE93-8C8149761242}"/>
                  </a:ext>
                </a:extLst>
              </p14:cNvPr>
              <p14:cNvContentPartPr/>
              <p14:nvPr/>
            </p14:nvContentPartPr>
            <p14:xfrm>
              <a:off x="906780" y="3725037"/>
              <a:ext cx="77760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51A96385-F385-6AE3-CE93-8C81497612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780" y="3617037"/>
                <a:ext cx="88524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00C132F3-EA3F-48BC-8842-543074ECD5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1" y="2829601"/>
            <a:ext cx="1014720" cy="3819168"/>
          </a:xfrm>
          <a:prstGeom prst="rect">
            <a:avLst/>
          </a:prstGeom>
        </p:spPr>
      </p:pic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DF484D70-097C-459D-8DC0-E1968E7F9D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7598586"/>
              </p:ext>
            </p:extLst>
          </p:nvPr>
        </p:nvGraphicFramePr>
        <p:xfrm>
          <a:off x="5710081" y="2829225"/>
          <a:ext cx="5575139" cy="3819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9B340D35-E979-D116-1B7D-572F90FC67B0}"/>
                  </a:ext>
                </a:extLst>
              </p14:cNvPr>
              <p14:cNvContentPartPr/>
              <p14:nvPr/>
            </p14:nvContentPartPr>
            <p14:xfrm>
              <a:off x="906780" y="3908652"/>
              <a:ext cx="1266120" cy="72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9B340D35-E979-D116-1B7D-572F90FC67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2780" y="3692652"/>
                <a:ext cx="137376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5F16A623-EC45-DAA8-D2C2-806D4DB1C4E3}"/>
              </a:ext>
            </a:extLst>
          </p:cNvPr>
          <p:cNvSpPr txBox="1"/>
          <p:nvPr/>
        </p:nvSpPr>
        <p:spPr>
          <a:xfrm>
            <a:off x="727124" y="4738997"/>
            <a:ext cx="29300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 = 0 (sem filtragem), a ação derivativa apresenta variações bruscas no sinal de comando, resultando numa resposta pouco suave.</a:t>
            </a:r>
          </a:p>
        </p:txBody>
      </p:sp>
    </p:spTree>
    <p:extLst>
      <p:ext uri="{BB962C8B-B14F-4D97-AF65-F5344CB8AC3E}">
        <p14:creationId xmlns:p14="http://schemas.microsoft.com/office/powerpoint/2010/main" val="7969845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A284-485E-4AF1-A2FE-EB7F418F3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01AE9-2240-7545-3E0C-A3E055FB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CD365A1-54AB-5F5A-4781-709BD6B28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Análise crítica da alteração dos valores na ação derivativa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1.5.2. a = 2/3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Valores no terminal</a:t>
            </a: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ED4787B-5449-4E19-232D-ECE04A51574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816D673-4B78-0E3A-6E04-3F270D9D5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" y="2829225"/>
            <a:ext cx="2447552" cy="1198800"/>
          </a:xfrm>
          <a:prstGeom prst="rect">
            <a:avLst/>
          </a:prstGeom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7562C58B-5CD2-28B5-5EA6-57C9F8EF41DF}"/>
                  </a:ext>
                </a:extLst>
              </p14:cNvPr>
              <p14:cNvContentPartPr/>
              <p14:nvPr/>
            </p14:nvContentPartPr>
            <p14:xfrm>
              <a:off x="975360" y="3719957"/>
              <a:ext cx="777600" cy="36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7562C58B-5CD2-28B5-5EA6-57C9F8EF41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1360" y="3611957"/>
                <a:ext cx="885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79D77DEB-7E01-95E4-3432-AC422E64D43A}"/>
                  </a:ext>
                </a:extLst>
              </p14:cNvPr>
              <p14:cNvContentPartPr/>
              <p14:nvPr/>
            </p14:nvContentPartPr>
            <p14:xfrm>
              <a:off x="971550" y="3912462"/>
              <a:ext cx="1266120" cy="72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79D77DEB-7E01-95E4-3432-AC422E64D4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7550" y="3696462"/>
                <a:ext cx="1373760" cy="432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4A90CD38-15CF-FFC5-53CE-E07CDEF792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7952342"/>
              </p:ext>
            </p:extLst>
          </p:nvPr>
        </p:nvGraphicFramePr>
        <p:xfrm>
          <a:off x="5460447" y="2829565"/>
          <a:ext cx="5785946" cy="3663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3" name="Imagem 12">
            <a:extLst>
              <a:ext uri="{FF2B5EF4-FFF2-40B4-BE49-F238E27FC236}">
                <a16:creationId xmlns:a16="http://schemas.microsoft.com/office/drawing/2014/main" id="{54C99AC4-06C2-41EA-DB7D-987C4C0DBE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8045" y="2829225"/>
            <a:ext cx="855004" cy="327896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B54C2B2-BDC6-2E54-9D44-29E62CE10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2805" y="2829225"/>
            <a:ext cx="862310" cy="35969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9A88148-B06E-1345-80F2-3C314BECBEF5}"/>
                  </a:ext>
                </a:extLst>
              </p:cNvPr>
              <p:cNvSpPr txBox="1"/>
              <p:nvPr/>
            </p:nvSpPr>
            <p:spPr>
              <a:xfrm>
                <a:off x="704675" y="4661220"/>
                <a:ext cx="255269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Quanto maior é o valor de </a:t>
                </a:r>
                <a14:m>
                  <m:oMath xmlns:m="http://schemas.openxmlformats.org/officeDocument/2006/math">
                    <m:r>
                      <a:rPr lang="pt-PT" sz="1600" b="0" i="1"/>
                      <m:t>𝑎</m:t>
                    </m:r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mais forte é o efeito do filtro. </a:t>
                </a:r>
                <a:r>
                  <a:rPr lang="pt-PT" sz="1600" dirty="0"/>
                  <a:t>Observa-se um sinal de comando mais suave e com transições mais lentas. </a:t>
                </a:r>
                <a:endParaRPr lang="pt-P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9A88148-B06E-1345-80F2-3C314BECB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75" y="4661220"/>
                <a:ext cx="2552690" cy="1569660"/>
              </a:xfrm>
              <a:prstGeom prst="rect">
                <a:avLst/>
              </a:prstGeom>
              <a:blipFill>
                <a:blip r:embed="rId11"/>
                <a:stretch>
                  <a:fillRect l="-1435" t="-1167" r="-2632" b="-428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2898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8B22-4180-4648-B82B-0A65ECD7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A4D1C-70BC-E505-CFD4-D452F48D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1924DE5-F626-89FB-C52B-CB84071BC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Análise crítica da alteração dos valores na ação derivativa</a:t>
            </a:r>
          </a:p>
          <a:p>
            <a:pPr marL="914400" lvl="2" indent="0">
              <a:buNone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1.5.2. a = 1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Valores no terminal</a:t>
            </a: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272684A-7B21-F22A-F06A-D7269401C3A2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9A1872-54EB-2187-88E1-C1F7144F7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29225"/>
            <a:ext cx="2470652" cy="1198800"/>
          </a:xfrm>
          <a:prstGeom prst="rect">
            <a:avLst/>
          </a:prstGeom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C153A4C7-704D-9F2D-B304-4CB634DF07A7}"/>
                  </a:ext>
                </a:extLst>
              </p14:cNvPr>
              <p14:cNvContentPartPr/>
              <p14:nvPr/>
            </p14:nvContentPartPr>
            <p14:xfrm>
              <a:off x="906780" y="3712337"/>
              <a:ext cx="77760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C153A4C7-704D-9F2D-B304-4CB634DF07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780" y="3604337"/>
                <a:ext cx="885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5D021D59-B8F5-E9CA-B347-8EE15D44F964}"/>
                  </a:ext>
                </a:extLst>
              </p14:cNvPr>
              <p14:cNvContentPartPr/>
              <p14:nvPr/>
            </p14:nvContentPartPr>
            <p14:xfrm>
              <a:off x="899160" y="3914367"/>
              <a:ext cx="1266120" cy="72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5D021D59-B8F5-E9CA-B347-8EE15D44F9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5160" y="3698367"/>
                <a:ext cx="137376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Imagem 14">
            <a:extLst>
              <a:ext uri="{FF2B5EF4-FFF2-40B4-BE49-F238E27FC236}">
                <a16:creationId xmlns:a16="http://schemas.microsoft.com/office/drawing/2014/main" id="{9964A4B2-7F35-B5A4-0F77-EE7371E22B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8941" y="2829225"/>
            <a:ext cx="1071607" cy="3754455"/>
          </a:xfrm>
          <a:prstGeom prst="rect">
            <a:avLst/>
          </a:prstGeom>
        </p:spPr>
      </p:pic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C792AB20-964D-186D-1266-587CA7534B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4675969"/>
              </p:ext>
            </p:extLst>
          </p:nvPr>
        </p:nvGraphicFramePr>
        <p:xfrm>
          <a:off x="5766691" y="2835193"/>
          <a:ext cx="5448986" cy="3653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8277917A-B1B4-17AD-AF2D-018E5FF10B7F}"/>
              </a:ext>
            </a:extLst>
          </p:cNvPr>
          <p:cNvSpPr txBox="1"/>
          <p:nvPr/>
        </p:nvSpPr>
        <p:spPr>
          <a:xfrm>
            <a:off x="873990" y="4661835"/>
            <a:ext cx="23990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 = 1, a filtragem é máxima, anulando praticamente a ação derivativa e resultando num sinal de comando próximo de zero.</a:t>
            </a:r>
          </a:p>
        </p:txBody>
      </p:sp>
    </p:spTree>
    <p:extLst>
      <p:ext uri="{BB962C8B-B14F-4D97-AF65-F5344CB8AC3E}">
        <p14:creationId xmlns:p14="http://schemas.microsoft.com/office/powerpoint/2010/main" val="29501622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4145-C862-C48C-BCE2-071EB67F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1F710-A173-E46C-093A-2350FCB0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26AD676-5744-E2A5-0E86-7CDB7ECD4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Análise crítica da alteração dos valores na ação derivativa</a:t>
            </a: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A5B59B-85F5-E7A6-76E2-6C9DA181AA6B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5E66267-A495-CD1D-ADD5-746C7352E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2518226"/>
            <a:ext cx="3729038" cy="207206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C5E6AFB-979A-7608-6A72-D9080A5E7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764" y="2518226"/>
            <a:ext cx="3669133" cy="207206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E292996-A1E9-1383-58EB-D1FC2961C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880" y="4590288"/>
            <a:ext cx="3728836" cy="190258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461AE7B-B3A2-B250-4F65-31087898C6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4717" y="4590973"/>
            <a:ext cx="3669132" cy="190190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76B17EF8-DA8D-F123-8B35-E30D9A294CA3}"/>
              </a:ext>
            </a:extLst>
          </p:cNvPr>
          <p:cNvSpPr txBox="1"/>
          <p:nvPr/>
        </p:nvSpPr>
        <p:spPr>
          <a:xfrm>
            <a:off x="6641316" y="3228945"/>
            <a:ext cx="92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a=1/3</a:t>
            </a:r>
            <a:endParaRPr lang="pt-PT" sz="20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20921EE-6171-44E3-8721-FEBFF970FE97}"/>
              </a:ext>
            </a:extLst>
          </p:cNvPr>
          <p:cNvSpPr txBox="1"/>
          <p:nvPr/>
        </p:nvSpPr>
        <p:spPr>
          <a:xfrm>
            <a:off x="838200" y="3228945"/>
            <a:ext cx="92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a=0</a:t>
            </a:r>
            <a:endParaRPr lang="pt-PT" sz="20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8B09BED-7A01-E7A0-C222-A80CB52DAF89}"/>
              </a:ext>
            </a:extLst>
          </p:cNvPr>
          <p:cNvSpPr txBox="1"/>
          <p:nvPr/>
        </p:nvSpPr>
        <p:spPr>
          <a:xfrm>
            <a:off x="838200" y="5151411"/>
            <a:ext cx="92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a=2/3</a:t>
            </a:r>
            <a:endParaRPr lang="pt-PT" sz="20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EFEEB61-74DA-A69E-C109-132ED560A110}"/>
              </a:ext>
            </a:extLst>
          </p:cNvPr>
          <p:cNvSpPr txBox="1"/>
          <p:nvPr/>
        </p:nvSpPr>
        <p:spPr>
          <a:xfrm>
            <a:off x="6641316" y="5141471"/>
            <a:ext cx="92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a=1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35411329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A2CC4-A4D1-30A4-087B-D103CF5A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0945B-89D5-00D2-9483-1AF4D80E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37C861C-50A7-BE34-908D-64E31334C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Análise crítica da alteração dos valores na ação derivativa</a:t>
            </a: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2EFE58E-7BB9-ACB2-7F3F-0BFEC6140B37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66DCA21-FB48-29D1-65E6-C99753C72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745" y="2634210"/>
            <a:ext cx="3729038" cy="2072062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E186267-3D8B-85C3-F559-8A65F3765E09}"/>
              </a:ext>
            </a:extLst>
          </p:cNvPr>
          <p:cNvSpPr txBox="1"/>
          <p:nvPr/>
        </p:nvSpPr>
        <p:spPr>
          <a:xfrm>
            <a:off x="838200" y="3344929"/>
            <a:ext cx="92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a=0</a:t>
            </a:r>
            <a:endParaRPr lang="pt-PT" sz="2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842495C-A849-BFA9-9C0C-B665DC1B481D}"/>
              </a:ext>
            </a:extLst>
          </p:cNvPr>
          <p:cNvSpPr txBox="1"/>
          <p:nvPr/>
        </p:nvSpPr>
        <p:spPr>
          <a:xfrm>
            <a:off x="6096000" y="2634210"/>
            <a:ext cx="4535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0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não existe filtragem.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 caso, a saída apresenta transições bruscas e aproxima-se de uma </a:t>
            </a:r>
            <a:r>
              <a:rPr lang="pt-PT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onda retangular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reagindo imediatamente às variações da entrada triangular.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 torna a resposta mais rápida, mas também mais sensível a perturbações. </a:t>
            </a:r>
          </a:p>
          <a:p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38126914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2A468-295B-DE08-6224-F8A16FDA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1F1D6-0F7B-F453-AE17-22E4C1A7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228343D-BD1D-059E-CE87-A48B78542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Análise crítica da alteração dos valores na ação derivativa</a:t>
            </a: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075EDC-10AD-ECE2-CB07-02BF820931CC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FC790D5-170A-10EE-7C99-A1CD695BB87B}"/>
              </a:ext>
            </a:extLst>
          </p:cNvPr>
          <p:cNvSpPr txBox="1"/>
          <p:nvPr/>
        </p:nvSpPr>
        <p:spPr>
          <a:xfrm>
            <a:off x="838200" y="3344929"/>
            <a:ext cx="92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a=2/3</a:t>
            </a:r>
            <a:endParaRPr lang="pt-PT" sz="2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46E347-A4B5-DF01-2844-6B8AE2F32DBC}"/>
              </a:ext>
            </a:extLst>
          </p:cNvPr>
          <p:cNvSpPr txBox="1"/>
          <p:nvPr/>
        </p:nvSpPr>
        <p:spPr>
          <a:xfrm>
            <a:off x="6096000" y="2634210"/>
            <a:ext cx="45354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2/3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existe uma filtragem parcial. A saída mantém o comportamento esperado da derivada, mas deixa de apresentar transições instantâneas, tornando-se mais suave.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Assim, reduz-se as transições bruscas e melhora-se a imunidade a perturbações, embora a resposta se torne mais lenta do que no caso sem filtragem.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0D48A63-B87D-D3CF-B107-090F010CB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745" y="2634210"/>
            <a:ext cx="3674173" cy="207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881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252F-5D36-586F-3EA3-9EDF8ABD3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B9DC9-1920-91E9-E0D5-21844EC2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6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F2F80A6-B542-76A4-4D5F-97C76BA10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2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Implementação do algoritmo do controlador PID e validação da algoritmia implementada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Análise crítica da alteração dos valores na ação derivativa</a:t>
            </a: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pt-PT" sz="16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6EC858-1E29-9117-1D52-D05889365614}"/>
              </a:ext>
            </a:extLst>
          </p:cNvPr>
          <p:cNvSpPr txBox="1"/>
          <p:nvPr/>
        </p:nvSpPr>
        <p:spPr>
          <a:xfrm>
            <a:off x="11714480" y="6308209"/>
            <a:ext cx="47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2513E80-0B9B-613B-1487-500520CAE496}"/>
              </a:ext>
            </a:extLst>
          </p:cNvPr>
          <p:cNvSpPr txBox="1"/>
          <p:nvPr/>
        </p:nvSpPr>
        <p:spPr>
          <a:xfrm>
            <a:off x="838200" y="3344929"/>
            <a:ext cx="92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a=1</a:t>
            </a:r>
            <a:endParaRPr lang="pt-PT" sz="2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10E61F-AF9C-D6DD-7A0C-CC374B409970}"/>
              </a:ext>
            </a:extLst>
          </p:cNvPr>
          <p:cNvSpPr txBox="1"/>
          <p:nvPr/>
        </p:nvSpPr>
        <p:spPr>
          <a:xfrm>
            <a:off x="6096000" y="2634210"/>
            <a:ext cx="45354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ação derivativa deixa de atuar.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neste caso também não existe ação proporcional nem integral, a saída do controlador permanece </a:t>
            </a:r>
            <a:r>
              <a:rPr lang="pt-PT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praticamente zero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mesmo com a entrada a variar.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 mostra que um valor demasiado elevado do filtro elimina completamente o efeito da ação derivativa.</a:t>
            </a:r>
            <a:endParaRPr lang="pt-PT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137489-B9EA-0E0F-CFF4-A275FBAF1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745" y="2634210"/>
            <a:ext cx="3669133" cy="207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606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11E9C37-CBFD-368B-8183-C07D2F6EA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Comportamento expectável durante o ensaio experimental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Controlo proporcional (P)</a:t>
            </a:r>
          </a:p>
          <a:p>
            <a:pPr marL="457200" lvl="1" indent="0">
              <a:buNone/>
            </a:pPr>
            <a:endParaRPr lang="pt-PT" sz="1600" dirty="0"/>
          </a:p>
          <a:p>
            <a:pPr marL="457200" lvl="1" indent="0"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diferentes posições de referência, espera-se que o eixo do motor se mova rapidamente no sentido da referência e estabilize próximo da posição pedida. No entanto, podem verificar-se pequenas oscilações e menor capacidade de correção perante perturbações externas. Se for aplicada uma perturbação ao eixo, é expectável que o sistema apresente um desvio relativamente à referência e que não a compense totalmente.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35D8497-07DE-9ED9-0F45-98C3A9D2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7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8</a:t>
            </a:r>
          </a:p>
        </p:txBody>
      </p:sp>
    </p:spTree>
    <p:extLst>
      <p:ext uri="{BB962C8B-B14F-4D97-AF65-F5344CB8AC3E}">
        <p14:creationId xmlns:p14="http://schemas.microsoft.com/office/powerpoint/2010/main" val="38979615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01B22-635A-C64F-74D7-66EB7F2D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1A4004B-B435-D479-E65C-F4E1CAFA1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Comportamento expectável durante o ensaio experimental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Controlo proporcional-integral (PI)</a:t>
            </a:r>
          </a:p>
          <a:p>
            <a:pPr marL="457200" lvl="1" indent="0">
              <a:buNone/>
            </a:pP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o controlador PI, espera-se que o eixo atinja a posição desejada com maior precisão, eliminando o erro em regime permanente. Na presença de perturbações externas, o sistema deverá conseguir corrigir gradualmente o desvio e regressar à referência. Como desvantagem, poderá apresentar maior overshoot e um tempo de resposta superior ao do controlador P.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4A43C59-4CFC-8A8E-5F6F-F151721B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7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8</a:t>
            </a:r>
          </a:p>
        </p:txBody>
      </p:sp>
    </p:spTree>
    <p:extLst>
      <p:ext uri="{BB962C8B-B14F-4D97-AF65-F5344CB8AC3E}">
        <p14:creationId xmlns:p14="http://schemas.microsoft.com/office/powerpoint/2010/main" val="36739731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BA56F-C8F7-63CD-65CB-22700A53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E575967-9A51-2091-8A4D-F17F81399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Comportamento expectável durante o ensaio experimental</a:t>
            </a:r>
          </a:p>
          <a:p>
            <a:pPr marL="457200" lvl="1" indent="0">
              <a:buNone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 Controlo proporcional-integral-derivativo (PID)</a:t>
            </a:r>
          </a:p>
          <a:p>
            <a:pPr marL="457200" lvl="1" indent="0">
              <a:buNone/>
            </a:pPr>
            <a:endParaRPr lang="pt-P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o controlador PID, espera-se obter a melhor combinação entre rapidez, estabilidade e precisão. O eixo deverá atingir a posição desejada com menor overshoot, menor tempo de resposta e melhor capacidade de rejeição de perturbações. Assim, perante uma perturbação externa, espera-se que o sistema recupere mais rapidamente e regresse ao valor de referência com menor oscilação.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6D71578-68B9-AE64-AE6F-A1B2B5811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7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8</a:t>
            </a:r>
          </a:p>
        </p:txBody>
      </p:sp>
    </p:spTree>
    <p:extLst>
      <p:ext uri="{BB962C8B-B14F-4D97-AF65-F5344CB8AC3E}">
        <p14:creationId xmlns:p14="http://schemas.microsoft.com/office/powerpoint/2010/main" val="1064524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4FC1E-5769-464D-F47F-3BB8742C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F7632D64-FC16-A8DF-C14A-EC0E83F3C0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995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PT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Comportamento expectável durante o ensaio experimental</a:t>
                </a: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1.4. Análise crítica da alteração dos parâmetros e do tipo de controlador</a:t>
                </a:r>
              </a:p>
              <a:p>
                <a:pPr marL="457200" lvl="1" indent="0">
                  <a:buNone/>
                </a:pPr>
                <a:endParaRPr lang="pt-PT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Relativamente à variação dos parâmetros, espera-se que o aumento do ganho proporcional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/>
                        </m:ctrlPr>
                      </m:sSubPr>
                      <m:e>
                        <m:r>
                          <a:rPr lang="ar-AE" sz="1600" i="1"/>
                          <m:t>𝐾</m:t>
                        </m:r>
                      </m:e>
                      <m:sub>
                        <m:r>
                          <a:rPr lang="ar-AE" sz="1600" i="1"/>
                          <m:t>𝑝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torne a resposta mais rápida, embora possa aumentar as oscilações e o overshoot. O aumento do ganho integral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/>
                        </m:ctrlPr>
                      </m:sSubPr>
                      <m:e>
                        <m:r>
                          <a:rPr lang="ar-AE" sz="1600" i="1"/>
                          <m:t>𝐾</m:t>
                        </m:r>
                      </m:e>
                      <m:sub>
                        <m:r>
                          <a:rPr lang="ar-AE" sz="1600" i="1"/>
                          <m:t>𝑖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ar-A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deverá melhorar a precisão e eliminar o erro em regime permanente, podendo, no entanto, tornar o sistema mais lento e propício a instabilidade. Por sua vez, o ganho derivativo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/>
                        </m:ctrlPr>
                      </m:sSubPr>
                      <m:e>
                        <m:r>
                          <a:rPr lang="ar-AE" sz="1600" i="1"/>
                          <m:t>𝐾</m:t>
                        </m:r>
                      </m:e>
                      <m:sub>
                        <m:r>
                          <a:rPr lang="ar-AE" sz="1600" i="1"/>
                          <m:t>𝑑</m:t>
                        </m:r>
                      </m:sub>
                    </m:sSub>
                  </m:oMath>
                </a14:m>
                <a:r>
                  <a:rPr lang="pt-PT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deverá contribuir para a redução das oscilações e melhoria da estabilidade, embora, sem filtragem adequada, possa amplificar o ruído.</a:t>
                </a:r>
              </a:p>
            </p:txBody>
          </p:sp>
        </mc:Choice>
        <mc:Fallback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F7632D64-FC16-A8DF-C14A-EC0E83F3C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995072"/>
              </a:xfrm>
              <a:blipFill>
                <a:blip r:embed="rId2"/>
                <a:stretch>
                  <a:fillRect l="-638" t="-1524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ítulo 1">
            <a:extLst>
              <a:ext uri="{FF2B5EF4-FFF2-40B4-BE49-F238E27FC236}">
                <a16:creationId xmlns:a16="http://schemas.microsoft.com/office/drawing/2014/main" id="{EF1252FE-40AD-5E58-1C62-759B2D9F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7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Aula 8</a:t>
            </a:r>
          </a:p>
        </p:txBody>
      </p:sp>
    </p:spTree>
    <p:extLst>
      <p:ext uri="{BB962C8B-B14F-4D97-AF65-F5344CB8AC3E}">
        <p14:creationId xmlns:p14="http://schemas.microsoft.com/office/powerpoint/2010/main" val="3149009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4917</Words>
  <Application>Microsoft Office PowerPoint</Application>
  <PresentationFormat>Ecrã Panorâmico</PresentationFormat>
  <Paragraphs>708</Paragraphs>
  <Slides>67</Slides>
  <Notes>22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67</vt:i4>
      </vt:variant>
    </vt:vector>
  </HeadingPairs>
  <TitlesOfParts>
    <vt:vector size="73" baseType="lpstr">
      <vt:lpstr>Aptos</vt:lpstr>
      <vt:lpstr>Aptos Display</vt:lpstr>
      <vt:lpstr>Arial</vt:lpstr>
      <vt:lpstr>Cambria Math</vt:lpstr>
      <vt:lpstr>Times New Roman</vt:lpstr>
      <vt:lpstr>Tema do Office</vt:lpstr>
      <vt:lpstr>  CP2 - Controlo Digital da Posição Angular de um Motor CC </vt:lpstr>
      <vt:lpstr>Apresentação dos objetivos – Avaliação Intermédia</vt:lpstr>
      <vt:lpstr>Objetivo 0 – Aula 1</vt:lpstr>
      <vt:lpstr>Objetivo 0 – Aula 1</vt:lpstr>
      <vt:lpstr>Objetivo 0 – Aula 1</vt:lpstr>
      <vt:lpstr>Objetivo 0 – Aula 1</vt:lpstr>
      <vt:lpstr>Objetivo 0 – Aula 1</vt:lpstr>
      <vt:lpstr>Objetivo 1 – Aula 2</vt:lpstr>
      <vt:lpstr>Objetivo 1 – Aula 2</vt:lpstr>
      <vt:lpstr>Objetivo 1 – Aula 2</vt:lpstr>
      <vt:lpstr>Objetivo 1 – Aula 2</vt:lpstr>
      <vt:lpstr>Objetivo 1 – Aula 2</vt:lpstr>
      <vt:lpstr>Objetivo 1 – Aula 2</vt:lpstr>
      <vt:lpstr>Objetivo 1 – Aula 2</vt:lpstr>
      <vt:lpstr>Objetivo 2 – Aula 4</vt:lpstr>
      <vt:lpstr>Objetivo 2 – Aula 4</vt:lpstr>
      <vt:lpstr>Objetivo 2 – Aula 4</vt:lpstr>
      <vt:lpstr>Objetivo 2 – Aula 4</vt:lpstr>
      <vt:lpstr>Objetivo 2 – Aula 4</vt:lpstr>
      <vt:lpstr>Objetivo 2 – Aula 4</vt:lpstr>
      <vt:lpstr>Objetivo 2 – Aula 4</vt:lpstr>
      <vt:lpstr>Objetivo 2 – Aula 4</vt:lpstr>
      <vt:lpstr>Objetivo 2 – Aula 4</vt:lpstr>
      <vt:lpstr>Objetivo 2 – Aula 4</vt:lpstr>
      <vt:lpstr>Objetivo 3 – Aula 4</vt:lpstr>
      <vt:lpstr>Objetivo 3 – Aula 4</vt:lpstr>
      <vt:lpstr>Apresentação dos objetivos – Avaliação Final</vt:lpstr>
      <vt:lpstr>Apresentação dos objetivos – Avaliação Final</vt:lpstr>
      <vt:lpstr>Objetivo 4 – Aula 6</vt:lpstr>
      <vt:lpstr>Objetivo 4 – Aula 6</vt:lpstr>
      <vt:lpstr>Objetivo 4 – Aula 6</vt:lpstr>
      <vt:lpstr>Objetivo 4 – Aula 6</vt:lpstr>
      <vt:lpstr>Objetivo 4 – Aula 6</vt:lpstr>
      <vt:lpstr>Objetivo 4 – Aula 6</vt:lpstr>
      <vt:lpstr>Objetivo 4 – Aula 6</vt:lpstr>
      <vt:lpstr>Objetivo 4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5 – Aula 6</vt:lpstr>
      <vt:lpstr>Objetivo 6 – Aula 7</vt:lpstr>
      <vt:lpstr>Objetivo 6 – Aula 7</vt:lpstr>
      <vt:lpstr>Objetivo 6 – Aula 7</vt:lpstr>
      <vt:lpstr>Objetivo 6 – Aula 7</vt:lpstr>
      <vt:lpstr>Objetivo 6 – Aula 7</vt:lpstr>
      <vt:lpstr>Objetivo 6 – Aula 7</vt:lpstr>
      <vt:lpstr>Objetivo 6 – Aula 7</vt:lpstr>
      <vt:lpstr>Objetivo 6 – Aula 7</vt:lpstr>
      <vt:lpstr>Objetivo 6 – Aula 7</vt:lpstr>
      <vt:lpstr>Objetivo 6 – Aula 7</vt:lpstr>
      <vt:lpstr>Objetivo 6 – Aula 7</vt:lpstr>
      <vt:lpstr>Objetivo 7 – Aula 8</vt:lpstr>
      <vt:lpstr>Objetivo 7 – Aula 8</vt:lpstr>
      <vt:lpstr>Objetivo 7 – Aula 8</vt:lpstr>
      <vt:lpstr>Objetivo 7 – Aula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 Maria Carvalho da Costa Gomes</dc:creator>
  <cp:lastModifiedBy>Catarina Carvalho de Sousa</cp:lastModifiedBy>
  <cp:revision>81</cp:revision>
  <dcterms:created xsi:type="dcterms:W3CDTF">2026-03-16T16:15:50Z</dcterms:created>
  <dcterms:modified xsi:type="dcterms:W3CDTF">2026-04-12T15:48:21Z</dcterms:modified>
</cp:coreProperties>
</file>